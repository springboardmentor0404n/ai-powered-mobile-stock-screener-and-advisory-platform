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ileron Bold" charset="1" panose="00000800000000000000"/>
      <p:regular r:id="rId18"/>
    </p:embeddedFont>
    <p:embeddedFont>
      <p:font typeface="Open Sans" charset="1" panose="00000000000000000000"/>
      <p:regular r:id="rId19"/>
    </p:embeddedFont>
    <p:embeddedFont>
      <p:font typeface="Poppins" charset="1" panose="00000500000000000000"/>
      <p:regular r:id="rId20"/>
    </p:embeddedFont>
    <p:embeddedFont>
      <p:font typeface="Poppins Bold" charset="1" panose="00000800000000000000"/>
      <p:regular r:id="rId21"/>
    </p:embeddedFont>
    <p:embeddedFont>
      <p:font typeface="Poppins Semi-Bold" charset="1" panose="00000700000000000000"/>
      <p:regular r:id="rId22"/>
    </p:embeddedFont>
    <p:embeddedFont>
      <p:font typeface="Poppins Medium" charset="1" panose="00000600000000000000"/>
      <p:regular r:id="rId23"/>
    </p:embeddedFont>
    <p:embeddedFont>
      <p:font typeface="Aileron"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11" Target="../media/image5.png" Type="http://schemas.openxmlformats.org/officeDocument/2006/relationships/image"/><Relationship Id="rId12" Target="../media/image6.svg" Type="http://schemas.openxmlformats.org/officeDocument/2006/relationships/image"/><Relationship Id="rId2" Target="../media/image28.png" Type="http://schemas.openxmlformats.org/officeDocument/2006/relationships/image"/><Relationship Id="rId3" Target="../media/image29.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32.png" Type="http://schemas.openxmlformats.org/officeDocument/2006/relationships/image"/><Relationship Id="rId9"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2" Target="../media/image30.png" Type="http://schemas.openxmlformats.org/officeDocument/2006/relationships/image"/><Relationship Id="rId3" Target="../media/image31.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26.png" Type="http://schemas.openxmlformats.org/officeDocument/2006/relationships/image"/><Relationship Id="rId3" Target="../media/image27.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6576775">
            <a:off x="-5782488" y="-3075501"/>
            <a:ext cx="18272703" cy="17940472"/>
          </a:xfrm>
          <a:custGeom>
            <a:avLst/>
            <a:gdLst/>
            <a:ahLst/>
            <a:cxnLst/>
            <a:rect r="r" b="b" t="t" l="l"/>
            <a:pathLst>
              <a:path h="17940472" w="18272703">
                <a:moveTo>
                  <a:pt x="0" y="0"/>
                </a:moveTo>
                <a:lnTo>
                  <a:pt x="18272703" y="0"/>
                </a:lnTo>
                <a:lnTo>
                  <a:pt x="18272703" y="17940472"/>
                </a:lnTo>
                <a:lnTo>
                  <a:pt x="0" y="17940472"/>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302134">
            <a:off x="13509748" y="-4275200"/>
            <a:ext cx="8172698" cy="8024104"/>
          </a:xfrm>
          <a:custGeom>
            <a:avLst/>
            <a:gdLst/>
            <a:ahLst/>
            <a:cxnLst/>
            <a:rect r="r" b="b" t="t" l="l"/>
            <a:pathLst>
              <a:path h="8024104" w="8172698">
                <a:moveTo>
                  <a:pt x="0" y="0"/>
                </a:moveTo>
                <a:lnTo>
                  <a:pt x="8172698" y="0"/>
                </a:lnTo>
                <a:lnTo>
                  <a:pt x="8172698" y="8024104"/>
                </a:lnTo>
                <a:lnTo>
                  <a:pt x="0" y="80241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851018" y="3831136"/>
            <a:ext cx="8408282" cy="5427164"/>
          </a:xfrm>
          <a:custGeom>
            <a:avLst/>
            <a:gdLst/>
            <a:ahLst/>
            <a:cxnLst/>
            <a:rect r="r" b="b" t="t" l="l"/>
            <a:pathLst>
              <a:path h="5427164" w="8408282">
                <a:moveTo>
                  <a:pt x="0" y="0"/>
                </a:moveTo>
                <a:lnTo>
                  <a:pt x="8408282" y="0"/>
                </a:lnTo>
                <a:lnTo>
                  <a:pt x="8408282" y="5427164"/>
                </a:lnTo>
                <a:lnTo>
                  <a:pt x="0" y="542716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6782502">
            <a:off x="-3218386" y="6638745"/>
            <a:ext cx="8172698" cy="8024104"/>
          </a:xfrm>
          <a:custGeom>
            <a:avLst/>
            <a:gdLst/>
            <a:ahLst/>
            <a:cxnLst/>
            <a:rect r="r" b="b" t="t" l="l"/>
            <a:pathLst>
              <a:path h="8024104" w="8172698">
                <a:moveTo>
                  <a:pt x="0" y="0"/>
                </a:moveTo>
                <a:lnTo>
                  <a:pt x="8172698" y="0"/>
                </a:lnTo>
                <a:lnTo>
                  <a:pt x="8172698" y="8024104"/>
                </a:lnTo>
                <a:lnTo>
                  <a:pt x="0" y="80241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738727" y="2219236"/>
            <a:ext cx="10841218" cy="1611900"/>
          </a:xfrm>
          <a:prstGeom prst="rect">
            <a:avLst/>
          </a:prstGeom>
        </p:spPr>
        <p:txBody>
          <a:bodyPr anchor="t" rtlCol="false" tIns="0" lIns="0" bIns="0" rIns="0">
            <a:spAutoFit/>
          </a:bodyPr>
          <a:lstStyle/>
          <a:p>
            <a:pPr algn="l">
              <a:lnSpc>
                <a:spcPts val="12304"/>
              </a:lnSpc>
            </a:pPr>
            <a:r>
              <a:rPr lang="en-US" sz="11392" b="true">
                <a:solidFill>
                  <a:srgbClr val="000000"/>
                </a:solidFill>
                <a:latin typeface="Aileron Bold"/>
                <a:ea typeface="Aileron Bold"/>
                <a:cs typeface="Aileron Bold"/>
                <a:sym typeface="Aileron Bold"/>
              </a:rPr>
              <a:t>FinanceInsight</a:t>
            </a:r>
          </a:p>
        </p:txBody>
      </p:sp>
      <p:sp>
        <p:nvSpPr>
          <p:cNvPr name="TextBox 7" id="7"/>
          <p:cNvSpPr txBox="true"/>
          <p:nvPr/>
        </p:nvSpPr>
        <p:spPr>
          <a:xfrm rot="0">
            <a:off x="867963" y="3764461"/>
            <a:ext cx="7989906" cy="1216025"/>
          </a:xfrm>
          <a:prstGeom prst="rect">
            <a:avLst/>
          </a:prstGeom>
        </p:spPr>
        <p:txBody>
          <a:bodyPr anchor="t" rtlCol="false" tIns="0" lIns="0" bIns="0" rIns="0">
            <a:spAutoFit/>
          </a:bodyPr>
          <a:lstStyle/>
          <a:p>
            <a:pPr algn="l">
              <a:lnSpc>
                <a:spcPts val="4900"/>
              </a:lnSpc>
            </a:pPr>
            <a:r>
              <a:rPr lang="en-US" sz="3500">
                <a:solidFill>
                  <a:srgbClr val="000000"/>
                </a:solidFill>
                <a:latin typeface="Open Sans"/>
                <a:ea typeface="Open Sans"/>
                <a:cs typeface="Open Sans"/>
                <a:sym typeface="Open Sans"/>
              </a:rPr>
              <a:t>Named Entity Recognition (NER) Model for Financial Data Extraction</a:t>
            </a:r>
          </a:p>
        </p:txBody>
      </p:sp>
      <p:sp>
        <p:nvSpPr>
          <p:cNvPr name="Freeform 8" id="8"/>
          <p:cNvSpPr/>
          <p:nvPr/>
        </p:nvSpPr>
        <p:spPr>
          <a:xfrm flipH="false" flipV="false" rot="0">
            <a:off x="8600858" y="1219719"/>
            <a:ext cx="3618053" cy="838606"/>
          </a:xfrm>
          <a:custGeom>
            <a:avLst/>
            <a:gdLst/>
            <a:ahLst/>
            <a:cxnLst/>
            <a:rect r="r" b="b" t="t" l="l"/>
            <a:pathLst>
              <a:path h="838606" w="3618053">
                <a:moveTo>
                  <a:pt x="0" y="0"/>
                </a:moveTo>
                <a:lnTo>
                  <a:pt x="3618052" y="0"/>
                </a:lnTo>
                <a:lnTo>
                  <a:pt x="3618052" y="838606"/>
                </a:lnTo>
                <a:lnTo>
                  <a:pt x="0" y="838606"/>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Freeform 9" id="9"/>
          <p:cNvSpPr/>
          <p:nvPr/>
        </p:nvSpPr>
        <p:spPr>
          <a:xfrm flipH="true" flipV="false" rot="0">
            <a:off x="7232022" y="5647239"/>
            <a:ext cx="2135576" cy="494992"/>
          </a:xfrm>
          <a:custGeom>
            <a:avLst/>
            <a:gdLst/>
            <a:ahLst/>
            <a:cxnLst/>
            <a:rect r="r" b="b" t="t" l="l"/>
            <a:pathLst>
              <a:path h="494992" w="2135576">
                <a:moveTo>
                  <a:pt x="2135576" y="0"/>
                </a:moveTo>
                <a:lnTo>
                  <a:pt x="0" y="0"/>
                </a:lnTo>
                <a:lnTo>
                  <a:pt x="0" y="494992"/>
                </a:lnTo>
                <a:lnTo>
                  <a:pt x="2135576" y="494992"/>
                </a:lnTo>
                <a:lnTo>
                  <a:pt x="2135576"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TextBox 10" id="10"/>
          <p:cNvSpPr txBox="true"/>
          <p:nvPr/>
        </p:nvSpPr>
        <p:spPr>
          <a:xfrm rot="0">
            <a:off x="1028700" y="6202939"/>
            <a:ext cx="6155444" cy="1254125"/>
          </a:xfrm>
          <a:prstGeom prst="rect">
            <a:avLst/>
          </a:prstGeom>
        </p:spPr>
        <p:txBody>
          <a:bodyPr anchor="t" rtlCol="false" tIns="0" lIns="0" bIns="0" rIns="0">
            <a:spAutoFit/>
          </a:bodyPr>
          <a:lstStyle/>
          <a:p>
            <a:pPr algn="l">
              <a:lnSpc>
                <a:spcPts val="4900"/>
              </a:lnSpc>
            </a:pPr>
            <a:r>
              <a:rPr lang="en-US" sz="3500" u="sng">
                <a:solidFill>
                  <a:srgbClr val="000000"/>
                </a:solidFill>
                <a:latin typeface="Poppins"/>
                <a:ea typeface="Poppins"/>
                <a:cs typeface="Poppins"/>
                <a:sym typeface="Poppins"/>
              </a:rPr>
              <a:t>Mentor Name</a:t>
            </a:r>
            <a:r>
              <a:rPr lang="en-US" sz="3500">
                <a:solidFill>
                  <a:srgbClr val="000000"/>
                </a:solidFill>
                <a:latin typeface="Poppins"/>
                <a:ea typeface="Poppins"/>
                <a:cs typeface="Poppins"/>
                <a:sym typeface="Poppins"/>
              </a:rPr>
              <a:t> : G Navinash</a:t>
            </a:r>
          </a:p>
          <a:p>
            <a:pPr algn="l">
              <a:lnSpc>
                <a:spcPts val="4900"/>
              </a:lnSpc>
            </a:pPr>
            <a:r>
              <a:rPr lang="en-US" sz="3500" u="sng">
                <a:solidFill>
                  <a:srgbClr val="000000"/>
                </a:solidFill>
                <a:latin typeface="Poppins"/>
                <a:ea typeface="Poppins"/>
                <a:cs typeface="Poppins"/>
                <a:sym typeface="Poppins"/>
              </a:rPr>
              <a:t>Intern Name </a:t>
            </a:r>
            <a:r>
              <a:rPr lang="en-US" sz="3500">
                <a:solidFill>
                  <a:srgbClr val="000000"/>
                </a:solidFill>
                <a:latin typeface="Poppins"/>
                <a:ea typeface="Poppins"/>
                <a:cs typeface="Poppins"/>
                <a:sym typeface="Poppins"/>
              </a:rPr>
              <a:t>: Abinash Das</a:t>
            </a:r>
          </a:p>
        </p:txBody>
      </p:sp>
      <p:sp>
        <p:nvSpPr>
          <p:cNvPr name="TextBox 11" id="11"/>
          <p:cNvSpPr txBox="true"/>
          <p:nvPr/>
        </p:nvSpPr>
        <p:spPr>
          <a:xfrm rot="0">
            <a:off x="898229" y="5019758"/>
            <a:ext cx="7702629" cy="524552"/>
          </a:xfrm>
          <a:prstGeom prst="rect">
            <a:avLst/>
          </a:prstGeom>
        </p:spPr>
        <p:txBody>
          <a:bodyPr anchor="t" rtlCol="false" tIns="0" lIns="0" bIns="0" rIns="0">
            <a:spAutoFit/>
          </a:bodyPr>
          <a:lstStyle/>
          <a:p>
            <a:pPr algn="ctr">
              <a:lnSpc>
                <a:spcPts val="4162"/>
              </a:lnSpc>
              <a:spcBef>
                <a:spcPct val="0"/>
              </a:spcBef>
            </a:pPr>
            <a:r>
              <a:rPr lang="en-US" b="true" sz="2973" spc="273">
                <a:solidFill>
                  <a:srgbClr val="000000"/>
                </a:solidFill>
                <a:latin typeface="Poppins Bold"/>
                <a:ea typeface="Poppins Bold"/>
                <a:cs typeface="Poppins Bold"/>
                <a:sym typeface="Poppins Bold"/>
              </a:rPr>
              <a:t>Internship Project Report | Infosys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7492429" y="-3490476"/>
            <a:ext cx="15359471" cy="15080208"/>
          </a:xfrm>
          <a:custGeom>
            <a:avLst/>
            <a:gdLst/>
            <a:ahLst/>
            <a:cxnLst/>
            <a:rect r="r" b="b" t="t" l="l"/>
            <a:pathLst>
              <a:path h="15080208" w="15359471">
                <a:moveTo>
                  <a:pt x="0" y="0"/>
                </a:moveTo>
                <a:lnTo>
                  <a:pt x="15359471" y="0"/>
                </a:lnTo>
                <a:lnTo>
                  <a:pt x="15359471" y="15080207"/>
                </a:lnTo>
                <a:lnTo>
                  <a:pt x="0" y="15080207"/>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209960" y="-56266"/>
            <a:ext cx="2477320" cy="2904445"/>
          </a:xfrm>
          <a:custGeom>
            <a:avLst/>
            <a:gdLst/>
            <a:ahLst/>
            <a:cxnLst/>
            <a:rect r="r" b="b" t="t" l="l"/>
            <a:pathLst>
              <a:path h="2904445" w="2477320">
                <a:moveTo>
                  <a:pt x="2477320" y="0"/>
                </a:moveTo>
                <a:lnTo>
                  <a:pt x="0" y="0"/>
                </a:lnTo>
                <a:lnTo>
                  <a:pt x="0" y="2904445"/>
                </a:lnTo>
                <a:lnTo>
                  <a:pt x="2477320" y="2904445"/>
                </a:lnTo>
                <a:lnTo>
                  <a:pt x="2477320" y="0"/>
                </a:lnTo>
                <a:close/>
              </a:path>
            </a:pathLst>
          </a:custGeom>
          <a:blipFill>
            <a:blip r:embed="rId4">
              <a:extLst>
                <a:ext uri="{96DAC541-7B7A-43D3-8B79-37D633B846F1}">
                  <asvg:svgBlip xmlns:asvg="http://schemas.microsoft.com/office/drawing/2016/SVG/main" r:embed="rId5"/>
                </a:ext>
              </a:extLst>
            </a:blip>
            <a:stretch>
              <a:fillRect l="-44873" t="-24274" r="-375601" b="-162264"/>
            </a:stretch>
          </a:blipFill>
        </p:spPr>
      </p:sp>
      <p:sp>
        <p:nvSpPr>
          <p:cNvPr name="TextBox 4" id="4"/>
          <p:cNvSpPr txBox="true"/>
          <p:nvPr/>
        </p:nvSpPr>
        <p:spPr>
          <a:xfrm rot="0">
            <a:off x="1737673" y="2639745"/>
            <a:ext cx="14962989" cy="2238055"/>
          </a:xfrm>
          <a:prstGeom prst="rect">
            <a:avLst/>
          </a:prstGeom>
        </p:spPr>
        <p:txBody>
          <a:bodyPr anchor="t" rtlCol="false" tIns="0" lIns="0" bIns="0" rIns="0">
            <a:spAutoFit/>
          </a:bodyPr>
          <a:lstStyle/>
          <a:p>
            <a:pPr algn="l">
              <a:lnSpc>
                <a:spcPts val="4403"/>
              </a:lnSpc>
            </a:pPr>
            <a:r>
              <a:rPr lang="en-US" sz="3145">
                <a:solidFill>
                  <a:srgbClr val="000000"/>
                </a:solidFill>
                <a:latin typeface="Poppins"/>
                <a:ea typeface="Poppins"/>
                <a:cs typeface="Poppins"/>
                <a:sym typeface="Poppins"/>
              </a:rPr>
              <a:t>Financial analysts waste time manually extracting key metrics from unstructured reports because generic NLP fails to understand financial jargon and complex formats. This creates delays, errors, and unreliable insights in critical decision-making</a:t>
            </a:r>
          </a:p>
        </p:txBody>
      </p:sp>
      <p:sp>
        <p:nvSpPr>
          <p:cNvPr name="Freeform 5" id="5"/>
          <p:cNvSpPr/>
          <p:nvPr/>
        </p:nvSpPr>
        <p:spPr>
          <a:xfrm flipH="false" flipV="false" rot="-6873591">
            <a:off x="-1514196" y="7892067"/>
            <a:ext cx="5085792" cy="5170399"/>
          </a:xfrm>
          <a:custGeom>
            <a:avLst/>
            <a:gdLst/>
            <a:ahLst/>
            <a:cxnLst/>
            <a:rect r="r" b="b" t="t" l="l"/>
            <a:pathLst>
              <a:path h="5170399" w="5085792">
                <a:moveTo>
                  <a:pt x="0" y="0"/>
                </a:moveTo>
                <a:lnTo>
                  <a:pt x="5085792" y="0"/>
                </a:lnTo>
                <a:lnTo>
                  <a:pt x="5085792" y="5170399"/>
                </a:lnTo>
                <a:lnTo>
                  <a:pt x="0" y="51703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5400000">
            <a:off x="16378945" y="8311281"/>
            <a:ext cx="1615503" cy="1894038"/>
          </a:xfrm>
          <a:custGeom>
            <a:avLst/>
            <a:gdLst/>
            <a:ahLst/>
            <a:cxnLst/>
            <a:rect r="r" b="b" t="t" l="l"/>
            <a:pathLst>
              <a:path h="1894038" w="1615503">
                <a:moveTo>
                  <a:pt x="0" y="0"/>
                </a:moveTo>
                <a:lnTo>
                  <a:pt x="1615503" y="0"/>
                </a:lnTo>
                <a:lnTo>
                  <a:pt x="1615503" y="1894038"/>
                </a:lnTo>
                <a:lnTo>
                  <a:pt x="0" y="1894038"/>
                </a:lnTo>
                <a:lnTo>
                  <a:pt x="0" y="0"/>
                </a:lnTo>
                <a:close/>
              </a:path>
            </a:pathLst>
          </a:custGeom>
          <a:blipFill>
            <a:blip r:embed="rId4">
              <a:extLst>
                <a:ext uri="{96DAC541-7B7A-43D3-8B79-37D633B846F1}">
                  <asvg:svgBlip xmlns:asvg="http://schemas.microsoft.com/office/drawing/2016/SVG/main" r:embed="rId5"/>
                </a:ext>
              </a:extLst>
            </a:blip>
            <a:stretch>
              <a:fillRect l="-44873" t="-24274" r="-375601" b="-162264"/>
            </a:stretch>
          </a:blipFill>
        </p:spPr>
      </p:sp>
      <p:sp>
        <p:nvSpPr>
          <p:cNvPr name="Freeform 7" id="7"/>
          <p:cNvSpPr/>
          <p:nvPr/>
        </p:nvSpPr>
        <p:spPr>
          <a:xfrm flipH="false" flipV="false" rot="-2490985">
            <a:off x="13701227" y="-4846132"/>
            <a:ext cx="7425961" cy="7549498"/>
          </a:xfrm>
          <a:custGeom>
            <a:avLst/>
            <a:gdLst/>
            <a:ahLst/>
            <a:cxnLst/>
            <a:rect r="r" b="b" t="t" l="l"/>
            <a:pathLst>
              <a:path h="7549498" w="7425961">
                <a:moveTo>
                  <a:pt x="0" y="0"/>
                </a:moveTo>
                <a:lnTo>
                  <a:pt x="7425960" y="0"/>
                </a:lnTo>
                <a:lnTo>
                  <a:pt x="7425960" y="7549498"/>
                </a:lnTo>
                <a:lnTo>
                  <a:pt x="0" y="75494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395143" y="1453107"/>
            <a:ext cx="16892857" cy="1124331"/>
          </a:xfrm>
          <a:prstGeom prst="rect">
            <a:avLst/>
          </a:prstGeom>
        </p:spPr>
        <p:txBody>
          <a:bodyPr anchor="t" rtlCol="false" tIns="0" lIns="0" bIns="0" rIns="0">
            <a:spAutoFit/>
          </a:bodyPr>
          <a:lstStyle/>
          <a:p>
            <a:pPr algn="l">
              <a:lnSpc>
                <a:spcPts val="4256"/>
              </a:lnSpc>
            </a:pPr>
            <a:r>
              <a:rPr lang="en-US" sz="4299" b="true">
                <a:solidFill>
                  <a:srgbClr val="000000"/>
                </a:solidFill>
                <a:latin typeface="Poppins Semi-Bold"/>
                <a:ea typeface="Poppins Semi-Bold"/>
                <a:cs typeface="Poppins Semi-Bold"/>
                <a:sym typeface="Poppins Semi-Bold"/>
              </a:rPr>
              <a:t>Problem Statement: The Data Overload in Financial Analysis</a:t>
            </a:r>
          </a:p>
          <a:p>
            <a:pPr algn="l">
              <a:lnSpc>
                <a:spcPts val="4256"/>
              </a:lnSpc>
            </a:pPr>
          </a:p>
        </p:txBody>
      </p:sp>
      <p:sp>
        <p:nvSpPr>
          <p:cNvPr name="TextBox 9" id="9"/>
          <p:cNvSpPr txBox="true"/>
          <p:nvPr/>
        </p:nvSpPr>
        <p:spPr>
          <a:xfrm rot="0">
            <a:off x="1597556" y="5456956"/>
            <a:ext cx="15243223" cy="3989572"/>
          </a:xfrm>
          <a:prstGeom prst="rect">
            <a:avLst/>
          </a:prstGeom>
        </p:spPr>
        <p:txBody>
          <a:bodyPr anchor="t" rtlCol="false" tIns="0" lIns="0" bIns="0" rIns="0">
            <a:spAutoFit/>
          </a:bodyPr>
          <a:lstStyle/>
          <a:p>
            <a:pPr algn="l" marL="542906" indent="-271453" lvl="1">
              <a:lnSpc>
                <a:spcPts val="3520"/>
              </a:lnSpc>
              <a:buFont typeface="Arial"/>
              <a:buChar char="•"/>
            </a:pPr>
            <a:r>
              <a:rPr lang="en-US" sz="2514">
                <a:solidFill>
                  <a:srgbClr val="000000"/>
                </a:solidFill>
                <a:latin typeface="Poppins"/>
                <a:ea typeface="Poppins"/>
                <a:cs typeface="Poppins"/>
                <a:sym typeface="Poppins"/>
              </a:rPr>
              <a:t>Critical financial decisions are being made on delayed or incomplete information, putting investments, risk assessments, and market responses at direct risk.</a:t>
            </a:r>
          </a:p>
          <a:p>
            <a:pPr algn="l">
              <a:lnSpc>
                <a:spcPts val="3520"/>
              </a:lnSpc>
            </a:pPr>
          </a:p>
          <a:p>
            <a:pPr algn="l" marL="542906" indent="-271453" lvl="1">
              <a:lnSpc>
                <a:spcPts val="3520"/>
              </a:lnSpc>
              <a:buFont typeface="Arial"/>
              <a:buChar char="•"/>
            </a:pPr>
            <a:r>
              <a:rPr lang="en-US" sz="2514">
                <a:solidFill>
                  <a:srgbClr val="000000"/>
                </a:solidFill>
                <a:latin typeface="Poppins"/>
                <a:ea typeface="Poppins"/>
                <a:cs typeface="Poppins"/>
                <a:sym typeface="Poppins"/>
              </a:rPr>
              <a:t>Misinterpretation of financial jargon or metrics can lead to catastrophic analytical errors, especially when dealing with earnings, valuations, or regulatory filings.</a:t>
            </a:r>
          </a:p>
          <a:p>
            <a:pPr algn="l">
              <a:lnSpc>
                <a:spcPts val="3520"/>
              </a:lnSpc>
            </a:pPr>
          </a:p>
          <a:p>
            <a:pPr algn="l" marL="542906" indent="-271453" lvl="1">
              <a:lnSpc>
                <a:spcPts val="3520"/>
              </a:lnSpc>
              <a:buFont typeface="Arial"/>
              <a:buChar char="•"/>
            </a:pPr>
            <a:r>
              <a:rPr lang="en-US" sz="2514">
                <a:solidFill>
                  <a:srgbClr val="000000"/>
                </a:solidFill>
                <a:latin typeface="Poppins"/>
                <a:ea typeface="Poppins"/>
                <a:cs typeface="Poppins"/>
                <a:sym typeface="Poppins"/>
              </a:rPr>
              <a:t>The current manual process leaves organizations vulnerable to missed red flags, compliance failures, and competitive disadvantages because they can’t extract insights at the speed the market demands.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725222">
            <a:off x="-1345448" y="-2725149"/>
            <a:ext cx="4069911" cy="4114800"/>
          </a:xfrm>
          <a:custGeom>
            <a:avLst/>
            <a:gdLst/>
            <a:ahLst/>
            <a:cxnLst/>
            <a:rect r="r" b="b" t="t" l="l"/>
            <a:pathLst>
              <a:path h="4114800" w="4069911">
                <a:moveTo>
                  <a:pt x="0" y="0"/>
                </a:moveTo>
                <a:lnTo>
                  <a:pt x="4069911" y="0"/>
                </a:lnTo>
                <a:lnTo>
                  <a:pt x="406991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18377" y="6641209"/>
            <a:ext cx="5720565" cy="4836478"/>
          </a:xfrm>
          <a:custGeom>
            <a:avLst/>
            <a:gdLst/>
            <a:ahLst/>
            <a:cxnLst/>
            <a:rect r="r" b="b" t="t" l="l"/>
            <a:pathLst>
              <a:path h="4836478" w="5720565">
                <a:moveTo>
                  <a:pt x="0" y="0"/>
                </a:moveTo>
                <a:lnTo>
                  <a:pt x="5720566" y="0"/>
                </a:lnTo>
                <a:lnTo>
                  <a:pt x="5720566" y="4836478"/>
                </a:lnTo>
                <a:lnTo>
                  <a:pt x="0" y="48364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318377" y="827538"/>
            <a:ext cx="6167682" cy="1763194"/>
          </a:xfrm>
          <a:prstGeom prst="rect">
            <a:avLst/>
          </a:prstGeom>
        </p:spPr>
        <p:txBody>
          <a:bodyPr anchor="t" rtlCol="false" tIns="0" lIns="0" bIns="0" rIns="0">
            <a:spAutoFit/>
          </a:bodyPr>
          <a:lstStyle/>
          <a:p>
            <a:pPr algn="l">
              <a:lnSpc>
                <a:spcPts val="6757"/>
              </a:lnSpc>
            </a:pPr>
            <a:r>
              <a:rPr lang="en-US" sz="6825" b="true">
                <a:solidFill>
                  <a:srgbClr val="000000"/>
                </a:solidFill>
                <a:latin typeface="Aileron Bold"/>
                <a:ea typeface="Aileron Bold"/>
                <a:cs typeface="Aileron Bold"/>
                <a:sym typeface="Aileron Bold"/>
              </a:rPr>
              <a:t>Solution: FinanceInsight</a:t>
            </a:r>
          </a:p>
        </p:txBody>
      </p:sp>
      <p:sp>
        <p:nvSpPr>
          <p:cNvPr name="TextBox 6" id="6"/>
          <p:cNvSpPr txBox="true"/>
          <p:nvPr/>
        </p:nvSpPr>
        <p:spPr>
          <a:xfrm rot="0">
            <a:off x="1419602" y="2949436"/>
            <a:ext cx="5905123" cy="3209925"/>
          </a:xfrm>
          <a:prstGeom prst="rect">
            <a:avLst/>
          </a:prstGeom>
        </p:spPr>
        <p:txBody>
          <a:bodyPr anchor="t" rtlCol="false" tIns="0" lIns="0" bIns="0" rIns="0">
            <a:spAutoFit/>
          </a:bodyPr>
          <a:lstStyle/>
          <a:p>
            <a:pPr algn="l">
              <a:lnSpc>
                <a:spcPts val="4200"/>
              </a:lnSpc>
            </a:pPr>
            <a:r>
              <a:rPr lang="en-US" sz="3000">
                <a:solidFill>
                  <a:srgbClr val="000000"/>
                </a:solidFill>
                <a:latin typeface="Poppins"/>
                <a:ea typeface="Poppins"/>
                <a:cs typeface="Poppins"/>
                <a:sym typeface="Poppins"/>
              </a:rPr>
              <a:t>A domain-specific Financial NER system that automatically extracts accurate metrics, entities, and events from unstructured financial text at scale.</a:t>
            </a:r>
          </a:p>
        </p:txBody>
      </p:sp>
      <p:sp>
        <p:nvSpPr>
          <p:cNvPr name="Freeform 7" id="7"/>
          <p:cNvSpPr/>
          <p:nvPr/>
        </p:nvSpPr>
        <p:spPr>
          <a:xfrm flipH="false" flipV="false" rot="4173582">
            <a:off x="16151256" y="-1759251"/>
            <a:ext cx="7063773" cy="7141683"/>
          </a:xfrm>
          <a:custGeom>
            <a:avLst/>
            <a:gdLst/>
            <a:ahLst/>
            <a:cxnLst/>
            <a:rect r="r" b="b" t="t" l="l"/>
            <a:pathLst>
              <a:path h="7141683" w="7063773">
                <a:moveTo>
                  <a:pt x="0" y="0"/>
                </a:moveTo>
                <a:lnTo>
                  <a:pt x="7063773" y="0"/>
                </a:lnTo>
                <a:lnTo>
                  <a:pt x="7063773" y="7141683"/>
                </a:lnTo>
                <a:lnTo>
                  <a:pt x="0" y="71416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8768673" y="694188"/>
            <a:ext cx="2886413" cy="669024"/>
          </a:xfrm>
          <a:custGeom>
            <a:avLst/>
            <a:gdLst/>
            <a:ahLst/>
            <a:cxnLst/>
            <a:rect r="r" b="b" t="t" l="l"/>
            <a:pathLst>
              <a:path h="669024" w="2886413">
                <a:moveTo>
                  <a:pt x="0" y="0"/>
                </a:moveTo>
                <a:lnTo>
                  <a:pt x="2886412" y="0"/>
                </a:lnTo>
                <a:lnTo>
                  <a:pt x="2886412" y="669024"/>
                </a:lnTo>
                <a:lnTo>
                  <a:pt x="0" y="66902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9" id="9"/>
          <p:cNvSpPr/>
          <p:nvPr/>
        </p:nvSpPr>
        <p:spPr>
          <a:xfrm flipH="false" flipV="false" rot="10165423">
            <a:off x="17297969" y="9009641"/>
            <a:ext cx="2477320" cy="2904445"/>
          </a:xfrm>
          <a:custGeom>
            <a:avLst/>
            <a:gdLst/>
            <a:ahLst/>
            <a:cxnLst/>
            <a:rect r="r" b="b" t="t" l="l"/>
            <a:pathLst>
              <a:path h="2904445" w="2477320">
                <a:moveTo>
                  <a:pt x="0" y="0"/>
                </a:moveTo>
                <a:lnTo>
                  <a:pt x="2477320" y="0"/>
                </a:lnTo>
                <a:lnTo>
                  <a:pt x="2477320" y="2904444"/>
                </a:lnTo>
                <a:lnTo>
                  <a:pt x="0" y="2904444"/>
                </a:lnTo>
                <a:lnTo>
                  <a:pt x="0" y="0"/>
                </a:lnTo>
                <a:close/>
              </a:path>
            </a:pathLst>
          </a:custGeom>
          <a:blipFill>
            <a:blip r:embed="rId10">
              <a:extLst>
                <a:ext uri="{96DAC541-7B7A-43D3-8B79-37D633B846F1}">
                  <asvg:svgBlip xmlns:asvg="http://schemas.microsoft.com/office/drawing/2016/SVG/main" r:embed="rId11"/>
                </a:ext>
              </a:extLst>
            </a:blip>
            <a:stretch>
              <a:fillRect l="-44873" t="-24274" r="-375601" b="-162264"/>
            </a:stretch>
          </a:blipFill>
        </p:spPr>
      </p:sp>
      <p:grpSp>
        <p:nvGrpSpPr>
          <p:cNvPr name="Group 10" id="10"/>
          <p:cNvGrpSpPr/>
          <p:nvPr/>
        </p:nvGrpSpPr>
        <p:grpSpPr>
          <a:xfrm rot="0">
            <a:off x="8284558" y="2374585"/>
            <a:ext cx="9175321" cy="6883715"/>
            <a:chOff x="0" y="0"/>
            <a:chExt cx="12233761" cy="9178287"/>
          </a:xfrm>
        </p:grpSpPr>
        <p:sp>
          <p:nvSpPr>
            <p:cNvPr name="TextBox 11" id="11"/>
            <p:cNvSpPr txBox="true"/>
            <p:nvPr/>
          </p:nvSpPr>
          <p:spPr>
            <a:xfrm rot="0">
              <a:off x="0" y="-85725"/>
              <a:ext cx="7635918" cy="652545"/>
            </a:xfrm>
            <a:prstGeom prst="rect">
              <a:avLst/>
            </a:prstGeom>
          </p:spPr>
          <p:txBody>
            <a:bodyPr anchor="t" rtlCol="false" tIns="0" lIns="0" bIns="0" rIns="0">
              <a:spAutoFit/>
            </a:bodyPr>
            <a:lstStyle/>
            <a:p>
              <a:pPr algn="l">
                <a:lnSpc>
                  <a:spcPts val="3939"/>
                </a:lnSpc>
              </a:pPr>
              <a:r>
                <a:rPr lang="en-US" b="true" sz="2813">
                  <a:solidFill>
                    <a:srgbClr val="000000"/>
                  </a:solidFill>
                  <a:latin typeface="Poppins Bold"/>
                  <a:ea typeface="Poppins Bold"/>
                  <a:cs typeface="Poppins Bold"/>
                  <a:sym typeface="Poppins Bold"/>
                </a:rPr>
                <a:t>Specialized Extraction Engine:</a:t>
              </a:r>
            </a:p>
          </p:txBody>
        </p:sp>
        <p:sp>
          <p:nvSpPr>
            <p:cNvPr name="TextBox 12" id="12"/>
            <p:cNvSpPr txBox="true"/>
            <p:nvPr/>
          </p:nvSpPr>
          <p:spPr>
            <a:xfrm rot="0">
              <a:off x="0" y="973484"/>
              <a:ext cx="12233761" cy="1182798"/>
            </a:xfrm>
            <a:prstGeom prst="rect">
              <a:avLst/>
            </a:prstGeom>
          </p:spPr>
          <p:txBody>
            <a:bodyPr anchor="t" rtlCol="false" tIns="0" lIns="0" bIns="0" rIns="0">
              <a:spAutoFit/>
            </a:bodyPr>
            <a:lstStyle/>
            <a:p>
              <a:pPr algn="l">
                <a:lnSpc>
                  <a:spcPts val="3660"/>
                </a:lnSpc>
              </a:pPr>
              <a:r>
                <a:rPr lang="en-US" sz="2440">
                  <a:solidFill>
                    <a:srgbClr val="000000"/>
                  </a:solidFill>
                  <a:latin typeface="Poppins"/>
                  <a:ea typeface="Poppins"/>
                  <a:cs typeface="Poppins"/>
                  <a:sym typeface="Poppins"/>
                </a:rPr>
                <a:t>A</a:t>
              </a:r>
              <a:r>
                <a:rPr lang="en-US" sz="2440">
                  <a:solidFill>
                    <a:srgbClr val="000000"/>
                  </a:solidFill>
                  <a:latin typeface="Poppins"/>
                  <a:ea typeface="Poppins"/>
                  <a:cs typeface="Poppins"/>
                  <a:sym typeface="Poppins"/>
                </a:rPr>
                <a:t> fine-tuned FinBERT model identifies and extracts specific fin</a:t>
              </a:r>
              <a:r>
                <a:rPr lang="en-US" sz="2440">
                  <a:solidFill>
                    <a:srgbClr val="000000"/>
                  </a:solidFill>
                  <a:latin typeface="Poppins"/>
                  <a:ea typeface="Poppins"/>
                  <a:cs typeface="Poppins"/>
                  <a:sym typeface="Poppins"/>
                </a:rPr>
                <a:t>ancial numerals that general models typically miss.</a:t>
              </a:r>
            </a:p>
          </p:txBody>
        </p:sp>
        <p:sp>
          <p:nvSpPr>
            <p:cNvPr name="TextBox 13" id="13"/>
            <p:cNvSpPr txBox="true"/>
            <p:nvPr/>
          </p:nvSpPr>
          <p:spPr>
            <a:xfrm rot="0">
              <a:off x="0" y="2901714"/>
              <a:ext cx="5706631" cy="652545"/>
            </a:xfrm>
            <a:prstGeom prst="rect">
              <a:avLst/>
            </a:prstGeom>
          </p:spPr>
          <p:txBody>
            <a:bodyPr anchor="t" rtlCol="false" tIns="0" lIns="0" bIns="0" rIns="0">
              <a:spAutoFit/>
            </a:bodyPr>
            <a:lstStyle/>
            <a:p>
              <a:pPr algn="l">
                <a:lnSpc>
                  <a:spcPts val="3939"/>
                </a:lnSpc>
              </a:pPr>
              <a:r>
                <a:rPr lang="en-US" b="true" sz="2813">
                  <a:solidFill>
                    <a:srgbClr val="000000"/>
                  </a:solidFill>
                  <a:latin typeface="Poppins Bold"/>
                  <a:ea typeface="Poppins Bold"/>
                  <a:cs typeface="Poppins Bold"/>
                  <a:sym typeface="Poppins Bold"/>
                </a:rPr>
                <a:t>LLM powered Analysis:</a:t>
              </a:r>
            </a:p>
          </p:txBody>
        </p:sp>
        <p:sp>
          <p:nvSpPr>
            <p:cNvPr name="TextBox 14" id="14"/>
            <p:cNvSpPr txBox="true"/>
            <p:nvPr/>
          </p:nvSpPr>
          <p:spPr>
            <a:xfrm rot="0">
              <a:off x="0" y="3966156"/>
              <a:ext cx="11790958" cy="1788557"/>
            </a:xfrm>
            <a:prstGeom prst="rect">
              <a:avLst/>
            </a:prstGeom>
          </p:spPr>
          <p:txBody>
            <a:bodyPr anchor="t" rtlCol="false" tIns="0" lIns="0" bIns="0" rIns="0">
              <a:spAutoFit/>
            </a:bodyPr>
            <a:lstStyle/>
            <a:p>
              <a:pPr algn="l">
                <a:lnSpc>
                  <a:spcPts val="3660"/>
                </a:lnSpc>
              </a:pPr>
              <a:r>
                <a:rPr lang="en-US" sz="2440">
                  <a:solidFill>
                    <a:srgbClr val="000000"/>
                  </a:solidFill>
                  <a:latin typeface="Poppins"/>
                  <a:ea typeface="Poppins"/>
                  <a:cs typeface="Poppins"/>
                  <a:sym typeface="Poppins"/>
                </a:rPr>
                <a:t>An LLM powered by Google Gemini processes uploaded financial documents, converting messy, unstructured text into accurate, actionable insights on demand.</a:t>
              </a:r>
            </a:p>
          </p:txBody>
        </p:sp>
        <p:sp>
          <p:nvSpPr>
            <p:cNvPr name="TextBox 15" id="15"/>
            <p:cNvSpPr txBox="true"/>
            <p:nvPr/>
          </p:nvSpPr>
          <p:spPr>
            <a:xfrm rot="0">
              <a:off x="0" y="7389730"/>
              <a:ext cx="12233761" cy="1788557"/>
            </a:xfrm>
            <a:prstGeom prst="rect">
              <a:avLst/>
            </a:prstGeom>
          </p:spPr>
          <p:txBody>
            <a:bodyPr anchor="t" rtlCol="false" tIns="0" lIns="0" bIns="0" rIns="0">
              <a:spAutoFit/>
            </a:bodyPr>
            <a:lstStyle/>
            <a:p>
              <a:pPr algn="l">
                <a:lnSpc>
                  <a:spcPts val="3660"/>
                </a:lnSpc>
              </a:pPr>
              <a:r>
                <a:rPr lang="en-US" sz="2440">
                  <a:solidFill>
                    <a:srgbClr val="000000"/>
                  </a:solidFill>
                  <a:latin typeface="Poppins"/>
                  <a:ea typeface="Poppins"/>
                  <a:cs typeface="Poppins"/>
                  <a:sym typeface="Poppins"/>
                </a:rPr>
                <a:t>A user-friendly interface that utilizes our technology pipeline to answer complex questions with strict citations from the source text.</a:t>
              </a:r>
            </a:p>
          </p:txBody>
        </p:sp>
        <p:sp>
          <p:nvSpPr>
            <p:cNvPr name="TextBox 16" id="16"/>
            <p:cNvSpPr txBox="true"/>
            <p:nvPr/>
          </p:nvSpPr>
          <p:spPr>
            <a:xfrm rot="0">
              <a:off x="0" y="6325288"/>
              <a:ext cx="5706631" cy="652545"/>
            </a:xfrm>
            <a:prstGeom prst="rect">
              <a:avLst/>
            </a:prstGeom>
          </p:spPr>
          <p:txBody>
            <a:bodyPr anchor="t" rtlCol="false" tIns="0" lIns="0" bIns="0" rIns="0">
              <a:spAutoFit/>
            </a:bodyPr>
            <a:lstStyle/>
            <a:p>
              <a:pPr algn="l">
                <a:lnSpc>
                  <a:spcPts val="3939"/>
                </a:lnSpc>
              </a:pPr>
              <a:r>
                <a:rPr lang="en-US" b="true" sz="2813">
                  <a:solidFill>
                    <a:srgbClr val="000000"/>
                  </a:solidFill>
                  <a:latin typeface="Poppins Bold"/>
                  <a:ea typeface="Poppins Bold"/>
                  <a:cs typeface="Poppins Bold"/>
                  <a:sym typeface="Poppins Bold"/>
                </a:rPr>
                <a:t>User Friendly UI:</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8909710" y="-1485889"/>
            <a:ext cx="15359471" cy="15080208"/>
          </a:xfrm>
          <a:custGeom>
            <a:avLst/>
            <a:gdLst/>
            <a:ahLst/>
            <a:cxnLst/>
            <a:rect r="r" b="b" t="t" l="l"/>
            <a:pathLst>
              <a:path h="15080208" w="15359471">
                <a:moveTo>
                  <a:pt x="0" y="0"/>
                </a:moveTo>
                <a:lnTo>
                  <a:pt x="15359471" y="0"/>
                </a:lnTo>
                <a:lnTo>
                  <a:pt x="15359471"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94208" y="2795114"/>
            <a:ext cx="6157986" cy="5262279"/>
          </a:xfrm>
          <a:custGeom>
            <a:avLst/>
            <a:gdLst/>
            <a:ahLst/>
            <a:cxnLst/>
            <a:rect r="r" b="b" t="t" l="l"/>
            <a:pathLst>
              <a:path h="5262279" w="6157986">
                <a:moveTo>
                  <a:pt x="0" y="0"/>
                </a:moveTo>
                <a:lnTo>
                  <a:pt x="6157986" y="0"/>
                </a:lnTo>
                <a:lnTo>
                  <a:pt x="6157986" y="5262279"/>
                </a:lnTo>
                <a:lnTo>
                  <a:pt x="0" y="52622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6589446" y="-423522"/>
            <a:ext cx="2477320" cy="2904445"/>
          </a:xfrm>
          <a:custGeom>
            <a:avLst/>
            <a:gdLst/>
            <a:ahLst/>
            <a:cxnLst/>
            <a:rect r="r" b="b" t="t" l="l"/>
            <a:pathLst>
              <a:path h="2904445" w="2477320">
                <a:moveTo>
                  <a:pt x="2477320" y="0"/>
                </a:moveTo>
                <a:lnTo>
                  <a:pt x="0" y="0"/>
                </a:lnTo>
                <a:lnTo>
                  <a:pt x="0" y="2904444"/>
                </a:lnTo>
                <a:lnTo>
                  <a:pt x="2477320" y="2904444"/>
                </a:lnTo>
                <a:lnTo>
                  <a:pt x="2477320" y="0"/>
                </a:lnTo>
                <a:close/>
              </a:path>
            </a:pathLst>
          </a:custGeom>
          <a:blipFill>
            <a:blip r:embed="rId6">
              <a:extLst>
                <a:ext uri="{96DAC541-7B7A-43D3-8B79-37D633B846F1}">
                  <asvg:svgBlip xmlns:asvg="http://schemas.microsoft.com/office/drawing/2016/SVG/main" r:embed="rId7"/>
                </a:ext>
              </a:extLst>
            </a:blip>
            <a:stretch>
              <a:fillRect l="-44873" t="-24274" r="-375601" b="-162264"/>
            </a:stretch>
          </a:blipFill>
        </p:spPr>
      </p:sp>
      <p:sp>
        <p:nvSpPr>
          <p:cNvPr name="Freeform 5" id="5"/>
          <p:cNvSpPr/>
          <p:nvPr/>
        </p:nvSpPr>
        <p:spPr>
          <a:xfrm flipH="false" flipV="false" rot="-6873591">
            <a:off x="16523870" y="8764392"/>
            <a:ext cx="5085792" cy="5170399"/>
          </a:xfrm>
          <a:custGeom>
            <a:avLst/>
            <a:gdLst/>
            <a:ahLst/>
            <a:cxnLst/>
            <a:rect r="r" b="b" t="t" l="l"/>
            <a:pathLst>
              <a:path h="5170399" w="5085792">
                <a:moveTo>
                  <a:pt x="0" y="0"/>
                </a:moveTo>
                <a:lnTo>
                  <a:pt x="5085792" y="0"/>
                </a:lnTo>
                <a:lnTo>
                  <a:pt x="5085792" y="5170398"/>
                </a:lnTo>
                <a:lnTo>
                  <a:pt x="0" y="517039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13686">
            <a:off x="2669635" y="-3266628"/>
            <a:ext cx="5085792" cy="5170399"/>
          </a:xfrm>
          <a:custGeom>
            <a:avLst/>
            <a:gdLst/>
            <a:ahLst/>
            <a:cxnLst/>
            <a:rect r="r" b="b" t="t" l="l"/>
            <a:pathLst>
              <a:path h="5170399" w="5085792">
                <a:moveTo>
                  <a:pt x="0" y="0"/>
                </a:moveTo>
                <a:lnTo>
                  <a:pt x="5085792" y="0"/>
                </a:lnTo>
                <a:lnTo>
                  <a:pt x="5085792" y="5170399"/>
                </a:lnTo>
                <a:lnTo>
                  <a:pt x="0" y="51703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299298" y="71318"/>
            <a:ext cx="9443298" cy="1363980"/>
            <a:chOff x="0" y="0"/>
            <a:chExt cx="12591064" cy="1818640"/>
          </a:xfrm>
        </p:grpSpPr>
        <p:sp>
          <p:nvSpPr>
            <p:cNvPr name="Freeform 8" id="8"/>
            <p:cNvSpPr/>
            <p:nvPr/>
          </p:nvSpPr>
          <p:spPr>
            <a:xfrm flipH="false" flipV="false" rot="0">
              <a:off x="1191342" y="327641"/>
              <a:ext cx="683209" cy="1163359"/>
            </a:xfrm>
            <a:custGeom>
              <a:avLst/>
              <a:gdLst/>
              <a:ahLst/>
              <a:cxnLst/>
              <a:rect r="r" b="b" t="t" l="l"/>
              <a:pathLst>
                <a:path h="1163359" w="683209">
                  <a:moveTo>
                    <a:pt x="0" y="0"/>
                  </a:moveTo>
                  <a:lnTo>
                    <a:pt x="683209" y="0"/>
                  </a:lnTo>
                  <a:lnTo>
                    <a:pt x="683209" y="1163358"/>
                  </a:lnTo>
                  <a:lnTo>
                    <a:pt x="0" y="116335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0" y="95250"/>
              <a:ext cx="12591064" cy="1723390"/>
            </a:xfrm>
            <a:prstGeom prst="rect">
              <a:avLst/>
            </a:prstGeom>
          </p:spPr>
          <p:txBody>
            <a:bodyPr anchor="t" rtlCol="false" tIns="0" lIns="0" bIns="0" rIns="0">
              <a:spAutoFit/>
            </a:bodyPr>
            <a:lstStyle/>
            <a:p>
              <a:pPr algn="ctr">
                <a:lnSpc>
                  <a:spcPts val="8910"/>
                </a:lnSpc>
              </a:pPr>
              <a:r>
                <a:rPr lang="en-US" b="true" sz="9000">
                  <a:solidFill>
                    <a:srgbClr val="000000"/>
                  </a:solidFill>
                  <a:latin typeface="Poppins Bold"/>
                  <a:ea typeface="Poppins Bold"/>
                  <a:cs typeface="Poppins Bold"/>
                  <a:sym typeface="Poppins Bold"/>
                </a:rPr>
                <a:t>Approach</a:t>
              </a:r>
              <a:r>
                <a:rPr lang="en-US" sz="9000">
                  <a:solidFill>
                    <a:srgbClr val="000000"/>
                  </a:solidFill>
                  <a:latin typeface="Poppins"/>
                  <a:ea typeface="Poppins"/>
                  <a:cs typeface="Poppins"/>
                  <a:sym typeface="Poppins"/>
                </a:rPr>
                <a:t> </a:t>
              </a:r>
            </a:p>
          </p:txBody>
        </p:sp>
      </p:grpSp>
      <p:sp>
        <p:nvSpPr>
          <p:cNvPr name="TextBox 10" id="10"/>
          <p:cNvSpPr txBox="true"/>
          <p:nvPr/>
        </p:nvSpPr>
        <p:spPr>
          <a:xfrm rot="0">
            <a:off x="7118670" y="1780468"/>
            <a:ext cx="9591272" cy="7383093"/>
          </a:xfrm>
          <a:prstGeom prst="rect">
            <a:avLst/>
          </a:prstGeom>
        </p:spPr>
        <p:txBody>
          <a:bodyPr anchor="t" rtlCol="false" tIns="0" lIns="0" bIns="0" rIns="0">
            <a:spAutoFit/>
          </a:bodyPr>
          <a:lstStyle/>
          <a:p>
            <a:pPr algn="just" marL="534777" indent="-267388" lvl="1">
              <a:lnSpc>
                <a:spcPts val="3467"/>
              </a:lnSpc>
              <a:buFont typeface="Arial"/>
              <a:buChar char="•"/>
            </a:pPr>
            <a:r>
              <a:rPr lang="en-US" b="true" sz="2476">
                <a:solidFill>
                  <a:srgbClr val="000000"/>
                </a:solidFill>
                <a:latin typeface="Poppins Bold"/>
                <a:ea typeface="Poppins Bold"/>
                <a:cs typeface="Poppins Bold"/>
                <a:sym typeface="Poppins Bold"/>
              </a:rPr>
              <a:t>Data Sourcing: </a:t>
            </a:r>
            <a:r>
              <a:rPr lang="en-US" sz="2476">
                <a:solidFill>
                  <a:srgbClr val="000000"/>
                </a:solidFill>
                <a:latin typeface="Poppins"/>
                <a:ea typeface="Poppins"/>
                <a:cs typeface="Poppins"/>
                <a:sym typeface="Poppins"/>
              </a:rPr>
              <a:t>Leveraged the FiNER-139 dataset from Hugging Face containing 1.1 million annotated tokens extracted from real 10-K filings. to capture 139+ distinct financial entity types (e.g., Amortization, Revenue) instead of generic tags.</a:t>
            </a:r>
          </a:p>
          <a:p>
            <a:pPr algn="just">
              <a:lnSpc>
                <a:spcPts val="3467"/>
              </a:lnSpc>
            </a:pPr>
          </a:p>
          <a:p>
            <a:pPr algn="just" marL="534777" indent="-267388" lvl="1">
              <a:lnSpc>
                <a:spcPts val="3467"/>
              </a:lnSpc>
              <a:buFont typeface="Arial"/>
              <a:buChar char="•"/>
            </a:pPr>
            <a:r>
              <a:rPr lang="en-US" b="true" sz="2476">
                <a:solidFill>
                  <a:srgbClr val="000000"/>
                </a:solidFill>
                <a:latin typeface="Poppins Bold"/>
                <a:ea typeface="Poppins Bold"/>
                <a:cs typeface="Poppins Bold"/>
                <a:sym typeface="Poppins Bold"/>
              </a:rPr>
              <a:t>Model Fine-Tuning:</a:t>
            </a:r>
            <a:r>
              <a:rPr lang="en-US" sz="2476">
                <a:solidFill>
                  <a:srgbClr val="000000"/>
                </a:solidFill>
                <a:latin typeface="Poppins"/>
                <a:ea typeface="Poppins"/>
                <a:cs typeface="Poppins"/>
                <a:sym typeface="Poppins"/>
              </a:rPr>
              <a:t> Trained FinBERT on financial domain text to achieve high-precision extraction of complex numeric data and jargon.</a:t>
            </a:r>
          </a:p>
          <a:p>
            <a:pPr algn="just">
              <a:lnSpc>
                <a:spcPts val="3467"/>
              </a:lnSpc>
            </a:pPr>
          </a:p>
          <a:p>
            <a:pPr algn="just" marL="534777" indent="-267388" lvl="1">
              <a:lnSpc>
                <a:spcPts val="3467"/>
              </a:lnSpc>
              <a:buFont typeface="Arial"/>
              <a:buChar char="•"/>
            </a:pPr>
            <a:r>
              <a:rPr lang="en-US" b="true" sz="2476">
                <a:solidFill>
                  <a:srgbClr val="000000"/>
                </a:solidFill>
                <a:latin typeface="Poppins Bold"/>
                <a:ea typeface="Poppins Bold"/>
                <a:cs typeface="Poppins Bold"/>
                <a:sym typeface="Poppins Bold"/>
              </a:rPr>
              <a:t>LLM</a:t>
            </a:r>
            <a:r>
              <a:rPr lang="en-US" b="true" sz="2476">
                <a:solidFill>
                  <a:srgbClr val="000000"/>
                </a:solidFill>
                <a:latin typeface="Poppins Bold"/>
                <a:ea typeface="Poppins Bold"/>
                <a:cs typeface="Poppins Bold"/>
                <a:sym typeface="Poppins Bold"/>
              </a:rPr>
              <a:t> Pipeline:</a:t>
            </a:r>
            <a:r>
              <a:rPr lang="en-US" sz="2476">
                <a:solidFill>
                  <a:srgbClr val="000000"/>
                </a:solidFill>
                <a:latin typeface="Poppins"/>
                <a:ea typeface="Poppins"/>
                <a:cs typeface="Poppins"/>
                <a:sym typeface="Poppins"/>
              </a:rPr>
              <a:t> Built a pipeline with Gemini 2.5 Flash for semantic synthesis, context understanding to deliver precise answers with zero hallucinations.</a:t>
            </a:r>
          </a:p>
          <a:p>
            <a:pPr algn="just">
              <a:lnSpc>
                <a:spcPts val="3467"/>
              </a:lnSpc>
            </a:pPr>
          </a:p>
          <a:p>
            <a:pPr algn="just" marL="534777" indent="-267388" lvl="1">
              <a:lnSpc>
                <a:spcPts val="3467"/>
              </a:lnSpc>
              <a:buFont typeface="Arial"/>
              <a:buChar char="•"/>
            </a:pPr>
            <a:r>
              <a:rPr lang="en-US" b="true" sz="2476">
                <a:solidFill>
                  <a:srgbClr val="000000"/>
                </a:solidFill>
                <a:latin typeface="Poppins Bold"/>
                <a:ea typeface="Poppins Bold"/>
                <a:cs typeface="Poppins Bold"/>
                <a:sym typeface="Poppins Bold"/>
              </a:rPr>
              <a:t>Unified System Integration:</a:t>
            </a:r>
            <a:r>
              <a:rPr lang="en-US" sz="2476">
                <a:solidFill>
                  <a:srgbClr val="000000"/>
                </a:solidFill>
                <a:latin typeface="Poppins"/>
                <a:ea typeface="Poppins"/>
                <a:cs typeface="Poppins"/>
                <a:sym typeface="Poppins"/>
              </a:rPr>
              <a:t> Integrated the NER and LLM into a modular Streamlit workflow, with an OCR fallback to make even scanned PDFs and images fully readable.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71158" y="-5491136"/>
            <a:ext cx="16688441" cy="18017210"/>
          </a:xfrm>
          <a:custGeom>
            <a:avLst/>
            <a:gdLst/>
            <a:ahLst/>
            <a:cxnLst/>
            <a:rect r="r" b="b" t="t" l="l"/>
            <a:pathLst>
              <a:path h="18017210" w="16688441">
                <a:moveTo>
                  <a:pt x="0" y="0"/>
                </a:moveTo>
                <a:lnTo>
                  <a:pt x="16688441" y="0"/>
                </a:lnTo>
                <a:lnTo>
                  <a:pt x="16688441" y="18017210"/>
                </a:lnTo>
                <a:lnTo>
                  <a:pt x="0" y="180172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2656302"/>
            <a:ext cx="6422341" cy="4974395"/>
          </a:xfrm>
          <a:custGeom>
            <a:avLst/>
            <a:gdLst/>
            <a:ahLst/>
            <a:cxnLst/>
            <a:rect r="r" b="b" t="t" l="l"/>
            <a:pathLst>
              <a:path h="4974395" w="6422341">
                <a:moveTo>
                  <a:pt x="0" y="0"/>
                </a:moveTo>
                <a:lnTo>
                  <a:pt x="6422341" y="0"/>
                </a:lnTo>
                <a:lnTo>
                  <a:pt x="6422341" y="4974396"/>
                </a:lnTo>
                <a:lnTo>
                  <a:pt x="0" y="49743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8342093" y="2379232"/>
            <a:ext cx="7306425" cy="2276475"/>
          </a:xfrm>
          <a:prstGeom prst="rect">
            <a:avLst/>
          </a:prstGeom>
        </p:spPr>
        <p:txBody>
          <a:bodyPr anchor="t" rtlCol="false" tIns="0" lIns="0" bIns="0" rIns="0">
            <a:spAutoFit/>
          </a:bodyPr>
          <a:lstStyle/>
          <a:p>
            <a:pPr algn="l">
              <a:lnSpc>
                <a:spcPts val="8925"/>
              </a:lnSpc>
            </a:pPr>
            <a:r>
              <a:rPr lang="en-US" b="true" sz="7500">
                <a:solidFill>
                  <a:srgbClr val="000000"/>
                </a:solidFill>
                <a:latin typeface="Aileron Bold"/>
                <a:ea typeface="Aileron Bold"/>
                <a:cs typeface="Aileron Bold"/>
                <a:sym typeface="Aileron Bold"/>
              </a:rPr>
              <a:t>ARCHITECTURE DIAGRAM</a:t>
            </a:r>
          </a:p>
        </p:txBody>
      </p:sp>
      <p:sp>
        <p:nvSpPr>
          <p:cNvPr name="Freeform 6" id="6"/>
          <p:cNvSpPr/>
          <p:nvPr/>
        </p:nvSpPr>
        <p:spPr>
          <a:xfrm flipH="true" flipV="false" rot="0">
            <a:off x="-693056" y="613025"/>
            <a:ext cx="2477320" cy="2904445"/>
          </a:xfrm>
          <a:custGeom>
            <a:avLst/>
            <a:gdLst/>
            <a:ahLst/>
            <a:cxnLst/>
            <a:rect r="r" b="b" t="t" l="l"/>
            <a:pathLst>
              <a:path h="2904445" w="2477320">
                <a:moveTo>
                  <a:pt x="2477320" y="0"/>
                </a:moveTo>
                <a:lnTo>
                  <a:pt x="0" y="0"/>
                </a:lnTo>
                <a:lnTo>
                  <a:pt x="0" y="2904444"/>
                </a:lnTo>
                <a:lnTo>
                  <a:pt x="2477320" y="2904444"/>
                </a:lnTo>
                <a:lnTo>
                  <a:pt x="2477320" y="0"/>
                </a:lnTo>
                <a:close/>
              </a:path>
            </a:pathLst>
          </a:custGeom>
          <a:blipFill>
            <a:blip r:embed="rId8">
              <a:extLst>
                <a:ext uri="{96DAC541-7B7A-43D3-8B79-37D633B846F1}">
                  <asvg:svgBlip xmlns:asvg="http://schemas.microsoft.com/office/drawing/2016/SVG/main" r:embed="rId9"/>
                </a:ext>
              </a:extLst>
            </a:blip>
            <a:stretch>
              <a:fillRect l="-44873" t="-24274" r="-375601" b="-162264"/>
            </a:stretch>
          </a:blipFill>
        </p:spPr>
      </p:sp>
      <p:sp>
        <p:nvSpPr>
          <p:cNvPr name="Freeform 7" id="7"/>
          <p:cNvSpPr/>
          <p:nvPr/>
        </p:nvSpPr>
        <p:spPr>
          <a:xfrm flipH="false" flipV="false" rot="0">
            <a:off x="4724369" y="8494646"/>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Freeform 8" id="8"/>
          <p:cNvSpPr/>
          <p:nvPr/>
        </p:nvSpPr>
        <p:spPr>
          <a:xfrm flipH="false" flipV="false" rot="0">
            <a:off x="16189315" y="2065247"/>
            <a:ext cx="4197371" cy="972882"/>
          </a:xfrm>
          <a:custGeom>
            <a:avLst/>
            <a:gdLst/>
            <a:ahLst/>
            <a:cxnLst/>
            <a:rect r="r" b="b" t="t" l="l"/>
            <a:pathLst>
              <a:path h="972882" w="4197371">
                <a:moveTo>
                  <a:pt x="0" y="0"/>
                </a:moveTo>
                <a:lnTo>
                  <a:pt x="4197370" y="0"/>
                </a:lnTo>
                <a:lnTo>
                  <a:pt x="4197370" y="972882"/>
                </a:lnTo>
                <a:lnTo>
                  <a:pt x="0" y="972882"/>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TextBox 9" id="9"/>
          <p:cNvSpPr txBox="true"/>
          <p:nvPr/>
        </p:nvSpPr>
        <p:spPr>
          <a:xfrm rot="0">
            <a:off x="9144000" y="6946316"/>
            <a:ext cx="4940362" cy="684531"/>
          </a:xfrm>
          <a:prstGeom prst="rect">
            <a:avLst/>
          </a:prstGeom>
        </p:spPr>
        <p:txBody>
          <a:bodyPr anchor="t" rtlCol="false" tIns="0" lIns="0" bIns="0" rIns="0">
            <a:spAutoFit/>
          </a:bodyPr>
          <a:lstStyle/>
          <a:p>
            <a:pPr algn="l">
              <a:lnSpc>
                <a:spcPts val="5319"/>
              </a:lnSpc>
            </a:pPr>
            <a:r>
              <a:rPr lang="en-US" sz="3799" b="true">
                <a:solidFill>
                  <a:srgbClr val="FFFFFF"/>
                </a:solidFill>
                <a:latin typeface="Poppins Semi-Bold"/>
                <a:ea typeface="Poppins Semi-Bold"/>
                <a:cs typeface="Poppins Semi-Bold"/>
                <a:sym typeface="Poppins Semi-Bold"/>
              </a:rPr>
              <a:t>Next Slide</a:t>
            </a:r>
          </a:p>
        </p:txBody>
      </p:sp>
      <p:sp>
        <p:nvSpPr>
          <p:cNvPr name="Freeform 10" id="10"/>
          <p:cNvSpPr/>
          <p:nvPr/>
        </p:nvSpPr>
        <p:spPr>
          <a:xfrm flipH="false" flipV="false" rot="0">
            <a:off x="12164516" y="7127195"/>
            <a:ext cx="1040293" cy="436923"/>
          </a:xfrm>
          <a:custGeom>
            <a:avLst/>
            <a:gdLst/>
            <a:ahLst/>
            <a:cxnLst/>
            <a:rect r="r" b="b" t="t" l="l"/>
            <a:pathLst>
              <a:path h="436923" w="1040293">
                <a:moveTo>
                  <a:pt x="0" y="0"/>
                </a:moveTo>
                <a:lnTo>
                  <a:pt x="1040293" y="0"/>
                </a:lnTo>
                <a:lnTo>
                  <a:pt x="1040293" y="436923"/>
                </a:lnTo>
                <a:lnTo>
                  <a:pt x="0" y="4369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7492429" y="-3490476"/>
            <a:ext cx="15359471" cy="15080208"/>
          </a:xfrm>
          <a:custGeom>
            <a:avLst/>
            <a:gdLst/>
            <a:ahLst/>
            <a:cxnLst/>
            <a:rect r="r" b="b" t="t" l="l"/>
            <a:pathLst>
              <a:path h="15080208" w="15359471">
                <a:moveTo>
                  <a:pt x="0" y="0"/>
                </a:moveTo>
                <a:lnTo>
                  <a:pt x="15359471" y="0"/>
                </a:lnTo>
                <a:lnTo>
                  <a:pt x="15359471" y="15080207"/>
                </a:lnTo>
                <a:lnTo>
                  <a:pt x="0" y="15080207"/>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873591">
            <a:off x="-1514196" y="7892067"/>
            <a:ext cx="5085792" cy="5170399"/>
          </a:xfrm>
          <a:custGeom>
            <a:avLst/>
            <a:gdLst/>
            <a:ahLst/>
            <a:cxnLst/>
            <a:rect r="r" b="b" t="t" l="l"/>
            <a:pathLst>
              <a:path h="5170399" w="5085792">
                <a:moveTo>
                  <a:pt x="0" y="0"/>
                </a:moveTo>
                <a:lnTo>
                  <a:pt x="5085792" y="0"/>
                </a:lnTo>
                <a:lnTo>
                  <a:pt x="5085792" y="5170399"/>
                </a:lnTo>
                <a:lnTo>
                  <a:pt x="0" y="517039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490985">
            <a:off x="13701227" y="-4846132"/>
            <a:ext cx="7425961" cy="7549498"/>
          </a:xfrm>
          <a:custGeom>
            <a:avLst/>
            <a:gdLst/>
            <a:ahLst/>
            <a:cxnLst/>
            <a:rect r="r" b="b" t="t" l="l"/>
            <a:pathLst>
              <a:path h="7549498" w="7425961">
                <a:moveTo>
                  <a:pt x="0" y="0"/>
                </a:moveTo>
                <a:lnTo>
                  <a:pt x="7425960" y="0"/>
                </a:lnTo>
                <a:lnTo>
                  <a:pt x="7425960" y="7549498"/>
                </a:lnTo>
                <a:lnTo>
                  <a:pt x="0" y="75494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02598" y="2236889"/>
            <a:ext cx="17682805" cy="5813222"/>
          </a:xfrm>
          <a:custGeom>
            <a:avLst/>
            <a:gdLst/>
            <a:ahLst/>
            <a:cxnLst/>
            <a:rect r="r" b="b" t="t" l="l"/>
            <a:pathLst>
              <a:path h="5813222" w="17682805">
                <a:moveTo>
                  <a:pt x="0" y="0"/>
                </a:moveTo>
                <a:lnTo>
                  <a:pt x="17682804" y="0"/>
                </a:lnTo>
                <a:lnTo>
                  <a:pt x="17682804" y="5813222"/>
                </a:lnTo>
                <a:lnTo>
                  <a:pt x="0" y="5813222"/>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47159">
            <a:off x="15264622" y="5435074"/>
            <a:ext cx="7568009" cy="7744570"/>
          </a:xfrm>
          <a:custGeom>
            <a:avLst/>
            <a:gdLst/>
            <a:ahLst/>
            <a:cxnLst/>
            <a:rect r="r" b="b" t="t" l="l"/>
            <a:pathLst>
              <a:path h="7744570" w="7568009">
                <a:moveTo>
                  <a:pt x="0" y="0"/>
                </a:moveTo>
                <a:lnTo>
                  <a:pt x="7568010" y="0"/>
                </a:lnTo>
                <a:lnTo>
                  <a:pt x="7568010" y="7744570"/>
                </a:lnTo>
                <a:lnTo>
                  <a:pt x="0" y="7744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337758" y="297902"/>
            <a:ext cx="9818400" cy="1192530"/>
          </a:xfrm>
          <a:prstGeom prst="rect">
            <a:avLst/>
          </a:prstGeom>
        </p:spPr>
        <p:txBody>
          <a:bodyPr anchor="t" rtlCol="false" tIns="0" lIns="0" bIns="0" rIns="0">
            <a:spAutoFit/>
          </a:bodyPr>
          <a:lstStyle/>
          <a:p>
            <a:pPr algn="ctr">
              <a:lnSpc>
                <a:spcPts val="8910"/>
              </a:lnSpc>
            </a:pPr>
            <a:r>
              <a:rPr lang="en-US" b="true" sz="9000">
                <a:solidFill>
                  <a:srgbClr val="000000"/>
                </a:solidFill>
                <a:latin typeface="Aileron Bold"/>
                <a:ea typeface="Aileron Bold"/>
                <a:cs typeface="Aileron Bold"/>
                <a:sym typeface="Aileron Bold"/>
              </a:rPr>
              <a:t>Tech Stack</a:t>
            </a:r>
          </a:p>
        </p:txBody>
      </p:sp>
      <p:sp>
        <p:nvSpPr>
          <p:cNvPr name="Freeform 5" id="5"/>
          <p:cNvSpPr/>
          <p:nvPr/>
        </p:nvSpPr>
        <p:spPr>
          <a:xfrm flipH="true" flipV="false" rot="0">
            <a:off x="-309586" y="6353855"/>
            <a:ext cx="2477320" cy="2904445"/>
          </a:xfrm>
          <a:custGeom>
            <a:avLst/>
            <a:gdLst/>
            <a:ahLst/>
            <a:cxnLst/>
            <a:rect r="r" b="b" t="t" l="l"/>
            <a:pathLst>
              <a:path h="2904445" w="2477320">
                <a:moveTo>
                  <a:pt x="2477321" y="0"/>
                </a:moveTo>
                <a:lnTo>
                  <a:pt x="0" y="0"/>
                </a:lnTo>
                <a:lnTo>
                  <a:pt x="0" y="2904445"/>
                </a:lnTo>
                <a:lnTo>
                  <a:pt x="2477321" y="2904445"/>
                </a:lnTo>
                <a:lnTo>
                  <a:pt x="2477321" y="0"/>
                </a:lnTo>
                <a:close/>
              </a:path>
            </a:pathLst>
          </a:custGeom>
          <a:blipFill>
            <a:blip r:embed="rId6">
              <a:extLst>
                <a:ext uri="{96DAC541-7B7A-43D3-8B79-37D633B846F1}">
                  <asvg:svgBlip xmlns:asvg="http://schemas.microsoft.com/office/drawing/2016/SVG/main" r:embed="rId7"/>
                </a:ext>
              </a:extLst>
            </a:blip>
            <a:stretch>
              <a:fillRect l="-44873" t="-24274" r="-375601" b="-162264"/>
            </a:stretch>
          </a:blipFill>
        </p:spPr>
      </p:sp>
      <p:sp>
        <p:nvSpPr>
          <p:cNvPr name="Freeform 6" id="6"/>
          <p:cNvSpPr/>
          <p:nvPr/>
        </p:nvSpPr>
        <p:spPr>
          <a:xfrm flipH="false" flipV="false" rot="0">
            <a:off x="15387353" y="1490432"/>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7" id="7"/>
          <p:cNvSpPr/>
          <p:nvPr/>
        </p:nvSpPr>
        <p:spPr>
          <a:xfrm flipH="false" flipV="false" rot="-5025802">
            <a:off x="-2450586" y="-1683701"/>
            <a:ext cx="4272851" cy="4343933"/>
          </a:xfrm>
          <a:custGeom>
            <a:avLst/>
            <a:gdLst/>
            <a:ahLst/>
            <a:cxnLst/>
            <a:rect r="r" b="b" t="t" l="l"/>
            <a:pathLst>
              <a:path h="4343933" w="4272851">
                <a:moveTo>
                  <a:pt x="0" y="0"/>
                </a:moveTo>
                <a:lnTo>
                  <a:pt x="4272851" y="0"/>
                </a:lnTo>
                <a:lnTo>
                  <a:pt x="4272851" y="4343933"/>
                </a:lnTo>
                <a:lnTo>
                  <a:pt x="0" y="43439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2149577" y="1796059"/>
            <a:ext cx="13988846" cy="8196310"/>
          </a:xfrm>
          <a:prstGeom prst="rect">
            <a:avLst/>
          </a:prstGeom>
        </p:spPr>
        <p:txBody>
          <a:bodyPr anchor="t" rtlCol="false" tIns="0" lIns="0" bIns="0" rIns="0">
            <a:spAutoFit/>
          </a:bodyPr>
          <a:lstStyle/>
          <a:p>
            <a:pPr algn="l">
              <a:lnSpc>
                <a:spcPts val="3400"/>
              </a:lnSpc>
              <a:spcBef>
                <a:spcPct val="0"/>
              </a:spcBef>
            </a:pPr>
            <a:r>
              <a:rPr lang="en-US" b="true" sz="2429">
                <a:solidFill>
                  <a:srgbClr val="000000"/>
                </a:solidFill>
                <a:latin typeface="Poppins Bold"/>
                <a:ea typeface="Poppins Bold"/>
                <a:cs typeface="Poppins Bold"/>
                <a:sym typeface="Poppins Bold"/>
              </a:rPr>
              <a:t>Frontend &amp; Interface</a:t>
            </a:r>
          </a:p>
          <a:p>
            <a:pPr algn="l">
              <a:lnSpc>
                <a:spcPts val="3400"/>
              </a:lnSpc>
            </a:pPr>
            <a:r>
              <a:rPr lang="en-US" b="true" sz="2429">
                <a:solidFill>
                  <a:srgbClr val="000000"/>
                </a:solidFill>
                <a:latin typeface="Poppins Medium"/>
                <a:ea typeface="Poppins Medium"/>
                <a:cs typeface="Poppins Medium"/>
                <a:sym typeface="Poppins Medium"/>
              </a:rPr>
              <a:t>Streamlit:</a:t>
            </a:r>
            <a:r>
              <a:rPr lang="en-US" sz="2429">
                <a:solidFill>
                  <a:srgbClr val="000000"/>
                </a:solidFill>
                <a:latin typeface="Poppins"/>
                <a:ea typeface="Poppins"/>
                <a:cs typeface="Poppins"/>
                <a:sym typeface="Poppins"/>
              </a:rPr>
              <a:t> Rapid deployment of the interactive web UI for document upload and entity extraction display.</a:t>
            </a:r>
          </a:p>
          <a:p>
            <a:pPr algn="l">
              <a:lnSpc>
                <a:spcPts val="3400"/>
              </a:lnSpc>
            </a:pPr>
          </a:p>
          <a:p>
            <a:pPr algn="l">
              <a:lnSpc>
                <a:spcPts val="3400"/>
              </a:lnSpc>
              <a:spcBef>
                <a:spcPct val="0"/>
              </a:spcBef>
            </a:pPr>
            <a:r>
              <a:rPr lang="en-US" b="true" sz="2429">
                <a:solidFill>
                  <a:srgbClr val="000000"/>
                </a:solidFill>
                <a:latin typeface="Poppins Bold"/>
                <a:ea typeface="Poppins Bold"/>
                <a:cs typeface="Poppins Bold"/>
                <a:sym typeface="Poppins Bold"/>
              </a:rPr>
              <a:t>Generative AI &amp; Orchestration</a:t>
            </a:r>
          </a:p>
          <a:p>
            <a:pPr algn="l" marL="524440" indent="-262220" lvl="1">
              <a:lnSpc>
                <a:spcPts val="3400"/>
              </a:lnSpc>
              <a:buFont typeface="Arial"/>
              <a:buChar char="•"/>
            </a:pPr>
            <a:r>
              <a:rPr lang="en-US" b="true" sz="2429">
                <a:solidFill>
                  <a:srgbClr val="000000"/>
                </a:solidFill>
                <a:latin typeface="Poppins Medium"/>
                <a:ea typeface="Poppins Medium"/>
                <a:cs typeface="Poppins Medium"/>
                <a:sym typeface="Poppins Medium"/>
              </a:rPr>
              <a:t>LangChain:</a:t>
            </a:r>
            <a:r>
              <a:rPr lang="en-US" sz="2429">
                <a:solidFill>
                  <a:srgbClr val="000000"/>
                </a:solidFill>
                <a:latin typeface="Poppins"/>
                <a:ea typeface="Poppins"/>
                <a:cs typeface="Poppins"/>
                <a:sym typeface="Poppins"/>
              </a:rPr>
              <a:t> Framework for managing prompt context and LLM orchestration.</a:t>
            </a:r>
          </a:p>
          <a:p>
            <a:pPr algn="l" marL="524440" indent="-262220" lvl="1">
              <a:lnSpc>
                <a:spcPts val="3400"/>
              </a:lnSpc>
              <a:buFont typeface="Arial"/>
              <a:buChar char="•"/>
            </a:pPr>
            <a:r>
              <a:rPr lang="en-US" b="true" sz="2429">
                <a:solidFill>
                  <a:srgbClr val="000000"/>
                </a:solidFill>
                <a:latin typeface="Poppins Medium"/>
                <a:ea typeface="Poppins Medium"/>
                <a:cs typeface="Poppins Medium"/>
                <a:sym typeface="Poppins Medium"/>
              </a:rPr>
              <a:t>Google Gemini 2.5 Flash:</a:t>
            </a:r>
            <a:r>
              <a:rPr lang="en-US" sz="2429">
                <a:solidFill>
                  <a:srgbClr val="000000"/>
                </a:solidFill>
                <a:latin typeface="Poppins"/>
                <a:ea typeface="Poppins"/>
                <a:cs typeface="Poppins"/>
                <a:sym typeface="Poppins"/>
              </a:rPr>
              <a:t> High-speed LLM for semantic synthesis, context understanding and output formatting.</a:t>
            </a:r>
          </a:p>
          <a:p>
            <a:pPr algn="l">
              <a:lnSpc>
                <a:spcPts val="3400"/>
              </a:lnSpc>
              <a:spcBef>
                <a:spcPct val="0"/>
              </a:spcBef>
            </a:pPr>
          </a:p>
          <a:p>
            <a:pPr algn="l">
              <a:lnSpc>
                <a:spcPts val="3400"/>
              </a:lnSpc>
              <a:spcBef>
                <a:spcPct val="0"/>
              </a:spcBef>
            </a:pPr>
            <a:r>
              <a:rPr lang="en-US" b="true" sz="2429">
                <a:solidFill>
                  <a:srgbClr val="000000"/>
                </a:solidFill>
                <a:latin typeface="Poppins Bold"/>
                <a:ea typeface="Poppins Bold"/>
                <a:cs typeface="Poppins Bold"/>
                <a:sym typeface="Poppins Bold"/>
              </a:rPr>
              <a:t>Extraction Intelligence (NER)</a:t>
            </a:r>
          </a:p>
          <a:p>
            <a:pPr algn="l" marL="524440" indent="-262220" lvl="1">
              <a:lnSpc>
                <a:spcPts val="3400"/>
              </a:lnSpc>
              <a:buFont typeface="Arial"/>
              <a:buChar char="•"/>
            </a:pPr>
            <a:r>
              <a:rPr lang="en-US" b="true" sz="2429">
                <a:solidFill>
                  <a:srgbClr val="000000"/>
                </a:solidFill>
                <a:latin typeface="Poppins Medium"/>
                <a:ea typeface="Poppins Medium"/>
                <a:cs typeface="Poppins Medium"/>
                <a:sym typeface="Poppins Medium"/>
              </a:rPr>
              <a:t>FinBERT:</a:t>
            </a:r>
            <a:r>
              <a:rPr lang="en-US" sz="2429">
                <a:solidFill>
                  <a:srgbClr val="000000"/>
                </a:solidFill>
                <a:latin typeface="Poppins"/>
                <a:ea typeface="Poppins"/>
                <a:cs typeface="Poppins"/>
                <a:sym typeface="Poppins"/>
              </a:rPr>
              <a:t> Domain-specific BERT model fine-tuned for financial entity recognition on the FiNER-139 dataset.</a:t>
            </a:r>
          </a:p>
          <a:p>
            <a:pPr algn="l" marL="524440" indent="-262220" lvl="1">
              <a:lnSpc>
                <a:spcPts val="3400"/>
              </a:lnSpc>
              <a:buFont typeface="Arial"/>
              <a:buChar char="•"/>
            </a:pPr>
            <a:r>
              <a:rPr lang="en-US" b="true" sz="2429">
                <a:solidFill>
                  <a:srgbClr val="000000"/>
                </a:solidFill>
                <a:latin typeface="Poppins Medium"/>
                <a:ea typeface="Poppins Medium"/>
                <a:cs typeface="Poppins Medium"/>
                <a:sym typeface="Poppins Medium"/>
              </a:rPr>
              <a:t>Hugging Face Transformers:</a:t>
            </a:r>
            <a:r>
              <a:rPr lang="en-US" sz="2429">
                <a:solidFill>
                  <a:srgbClr val="000000"/>
                </a:solidFill>
                <a:latin typeface="Poppins"/>
                <a:ea typeface="Poppins"/>
                <a:cs typeface="Poppins"/>
                <a:sym typeface="Poppins"/>
              </a:rPr>
              <a:t> Framework used for loading and inference with the fine-tuned FinBERT model.</a:t>
            </a:r>
          </a:p>
          <a:p>
            <a:pPr algn="l">
              <a:lnSpc>
                <a:spcPts val="3400"/>
              </a:lnSpc>
              <a:spcBef>
                <a:spcPct val="0"/>
              </a:spcBef>
            </a:pPr>
          </a:p>
          <a:p>
            <a:pPr algn="l">
              <a:lnSpc>
                <a:spcPts val="3400"/>
              </a:lnSpc>
            </a:pPr>
            <a:r>
              <a:rPr lang="en-US" b="true" sz="2429">
                <a:solidFill>
                  <a:srgbClr val="000000"/>
                </a:solidFill>
                <a:latin typeface="Poppins Bold"/>
                <a:ea typeface="Poppins Bold"/>
                <a:cs typeface="Poppins Bold"/>
                <a:sym typeface="Poppins Bold"/>
              </a:rPr>
              <a:t>Document Processing &amp; OCR</a:t>
            </a:r>
          </a:p>
          <a:p>
            <a:pPr algn="l" marL="524440" indent="-262220" lvl="1">
              <a:lnSpc>
                <a:spcPts val="3400"/>
              </a:lnSpc>
              <a:buFont typeface="Arial"/>
              <a:buChar char="•"/>
            </a:pPr>
            <a:r>
              <a:rPr lang="en-US" sz="2429">
                <a:solidFill>
                  <a:srgbClr val="000000"/>
                </a:solidFill>
                <a:latin typeface="Poppins"/>
                <a:ea typeface="Poppins"/>
                <a:cs typeface="Poppins"/>
                <a:sym typeface="Poppins"/>
              </a:rPr>
              <a:t>Built a unified pipeline that ingests PDFs, Word files, text documents, images, and CSVs—extracting text, parsing tables, and applying OCR to ensure every format becomes clean, machine-readable data.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0">
            <a:off x="1889527" y="5743684"/>
            <a:ext cx="6021263" cy="4543316"/>
          </a:xfrm>
          <a:custGeom>
            <a:avLst/>
            <a:gdLst/>
            <a:ahLst/>
            <a:cxnLst/>
            <a:rect r="r" b="b" t="t" l="l"/>
            <a:pathLst>
              <a:path h="4543316" w="6021263">
                <a:moveTo>
                  <a:pt x="0" y="0"/>
                </a:moveTo>
                <a:lnTo>
                  <a:pt x="6021263" y="0"/>
                </a:lnTo>
                <a:lnTo>
                  <a:pt x="6021263" y="4543316"/>
                </a:lnTo>
                <a:lnTo>
                  <a:pt x="0" y="45433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196051">
            <a:off x="-5227350" y="-2699679"/>
            <a:ext cx="6897972" cy="6872105"/>
          </a:xfrm>
          <a:custGeom>
            <a:avLst/>
            <a:gdLst/>
            <a:ahLst/>
            <a:cxnLst/>
            <a:rect r="r" b="b" t="t" l="l"/>
            <a:pathLst>
              <a:path h="6872105" w="6897972">
                <a:moveTo>
                  <a:pt x="0" y="0"/>
                </a:moveTo>
                <a:lnTo>
                  <a:pt x="6897972" y="0"/>
                </a:lnTo>
                <a:lnTo>
                  <a:pt x="6897972" y="6872105"/>
                </a:lnTo>
                <a:lnTo>
                  <a:pt x="0" y="6872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506704" y="403951"/>
            <a:ext cx="6822559" cy="813054"/>
          </a:xfrm>
          <a:prstGeom prst="rect">
            <a:avLst/>
          </a:prstGeom>
        </p:spPr>
        <p:txBody>
          <a:bodyPr anchor="t" rtlCol="false" tIns="0" lIns="0" bIns="0" rIns="0">
            <a:spAutoFit/>
          </a:bodyPr>
          <a:lstStyle/>
          <a:p>
            <a:pPr algn="l">
              <a:lnSpc>
                <a:spcPts val="6137"/>
              </a:lnSpc>
            </a:pPr>
            <a:r>
              <a:rPr lang="en-US" sz="6199" b="true">
                <a:solidFill>
                  <a:srgbClr val="000000"/>
                </a:solidFill>
                <a:latin typeface="Aileron Bold"/>
                <a:ea typeface="Aileron Bold"/>
                <a:cs typeface="Aileron Bold"/>
                <a:sym typeface="Aileron Bold"/>
              </a:rPr>
              <a:t>Impact &amp; Analysis</a:t>
            </a:r>
          </a:p>
        </p:txBody>
      </p:sp>
      <p:sp>
        <p:nvSpPr>
          <p:cNvPr name="Freeform 5" id="5"/>
          <p:cNvSpPr/>
          <p:nvPr/>
        </p:nvSpPr>
        <p:spPr>
          <a:xfrm flipH="true" flipV="false" rot="2234655">
            <a:off x="11742061" y="-2067758"/>
            <a:ext cx="15359471" cy="15080208"/>
          </a:xfrm>
          <a:custGeom>
            <a:avLst/>
            <a:gdLst/>
            <a:ahLst/>
            <a:cxnLst/>
            <a:rect r="r" b="b" t="t" l="l"/>
            <a:pathLst>
              <a:path h="15080208" w="15359471">
                <a:moveTo>
                  <a:pt x="15359470" y="0"/>
                </a:moveTo>
                <a:lnTo>
                  <a:pt x="0" y="0"/>
                </a:lnTo>
                <a:lnTo>
                  <a:pt x="0" y="15080207"/>
                </a:lnTo>
                <a:lnTo>
                  <a:pt x="15359470" y="15080207"/>
                </a:lnTo>
                <a:lnTo>
                  <a:pt x="15359470" y="0"/>
                </a:lnTo>
                <a:close/>
              </a:path>
            </a:pathLst>
          </a:custGeom>
          <a:blipFill>
            <a:blip r:embed="rId6">
              <a:alphaModFix amt="6999"/>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4196051">
            <a:off x="14362916" y="7907052"/>
            <a:ext cx="6897972" cy="6872105"/>
          </a:xfrm>
          <a:custGeom>
            <a:avLst/>
            <a:gdLst/>
            <a:ahLst/>
            <a:cxnLst/>
            <a:rect r="r" b="b" t="t" l="l"/>
            <a:pathLst>
              <a:path h="6872105" w="6897972">
                <a:moveTo>
                  <a:pt x="0" y="0"/>
                </a:moveTo>
                <a:lnTo>
                  <a:pt x="6897973" y="0"/>
                </a:lnTo>
                <a:lnTo>
                  <a:pt x="6897973" y="6872105"/>
                </a:lnTo>
                <a:lnTo>
                  <a:pt x="0" y="687210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7367890" y="1853938"/>
            <a:ext cx="9922747" cy="7472873"/>
          </a:xfrm>
          <a:prstGeom prst="rect">
            <a:avLst/>
          </a:prstGeom>
        </p:spPr>
        <p:txBody>
          <a:bodyPr anchor="t" rtlCol="false" tIns="0" lIns="0" bIns="0" rIns="0">
            <a:spAutoFit/>
          </a:bodyPr>
          <a:lstStyle/>
          <a:p>
            <a:pPr algn="just" marL="683842" indent="-341921" lvl="1">
              <a:lnSpc>
                <a:spcPts val="4434"/>
              </a:lnSpc>
              <a:buFont typeface="Arial"/>
              <a:buChar char="•"/>
            </a:pPr>
            <a:r>
              <a:rPr lang="en-US" b="true" sz="3167">
                <a:solidFill>
                  <a:srgbClr val="000000"/>
                </a:solidFill>
                <a:latin typeface="Poppins Bold"/>
                <a:ea typeface="Poppins Bold"/>
                <a:cs typeface="Poppins Bold"/>
                <a:sym typeface="Poppins Bold"/>
              </a:rPr>
              <a:t>Operational Efficiency: </a:t>
            </a:r>
            <a:r>
              <a:rPr lang="en-US" sz="3167">
                <a:solidFill>
                  <a:srgbClr val="000000"/>
                </a:solidFill>
                <a:latin typeface="Poppins"/>
                <a:ea typeface="Poppins"/>
                <a:cs typeface="Poppins"/>
                <a:sym typeface="Poppins"/>
              </a:rPr>
              <a:t>Reduces document analysis time by 90%, processing complex  filings in seconds.</a:t>
            </a:r>
          </a:p>
          <a:p>
            <a:pPr algn="just">
              <a:lnSpc>
                <a:spcPts val="2869"/>
              </a:lnSpc>
            </a:pPr>
          </a:p>
          <a:p>
            <a:pPr algn="just" marL="683842" indent="-341921" lvl="1">
              <a:lnSpc>
                <a:spcPts val="4434"/>
              </a:lnSpc>
              <a:buFont typeface="Arial"/>
              <a:buChar char="•"/>
            </a:pPr>
            <a:r>
              <a:rPr lang="en-US" b="true" sz="3167">
                <a:solidFill>
                  <a:srgbClr val="000000"/>
                </a:solidFill>
                <a:latin typeface="Poppins Bold"/>
                <a:ea typeface="Poppins Bold"/>
                <a:cs typeface="Poppins Bold"/>
                <a:sym typeface="Poppins Bold"/>
              </a:rPr>
              <a:t>Precision Extraction:</a:t>
            </a:r>
            <a:r>
              <a:rPr lang="en-US" sz="3167">
                <a:solidFill>
                  <a:srgbClr val="000000"/>
                </a:solidFill>
                <a:latin typeface="Poppins"/>
                <a:ea typeface="Poppins"/>
                <a:cs typeface="Poppins"/>
                <a:sym typeface="Poppins"/>
              </a:rPr>
              <a:t> Fine-tuned FinBERT model achieves superior accuracy on 139+ specific financial entities compared to generic models.</a:t>
            </a:r>
          </a:p>
          <a:p>
            <a:pPr algn="just">
              <a:lnSpc>
                <a:spcPts val="2869"/>
              </a:lnSpc>
            </a:pPr>
          </a:p>
          <a:p>
            <a:pPr algn="just" marL="683842" indent="-341921" lvl="1">
              <a:lnSpc>
                <a:spcPts val="4434"/>
              </a:lnSpc>
              <a:buFont typeface="Arial"/>
              <a:buChar char="•"/>
            </a:pPr>
            <a:r>
              <a:rPr lang="en-US" b="true" sz="3167">
                <a:solidFill>
                  <a:srgbClr val="000000"/>
                </a:solidFill>
                <a:latin typeface="Poppins Bold"/>
                <a:ea typeface="Poppins Bold"/>
                <a:cs typeface="Poppins Bold"/>
                <a:sym typeface="Poppins Bold"/>
              </a:rPr>
              <a:t>Strategic Value:</a:t>
            </a:r>
            <a:r>
              <a:rPr lang="en-US" sz="3167">
                <a:solidFill>
                  <a:srgbClr val="000000"/>
                </a:solidFill>
                <a:latin typeface="Poppins"/>
                <a:ea typeface="Poppins"/>
                <a:cs typeface="Poppins"/>
                <a:sym typeface="Poppins"/>
              </a:rPr>
              <a:t> Transforms unstructured filings into structured, audit-ready data, accelerating investment decisions and risk assessment.</a:t>
            </a:r>
          </a:p>
          <a:p>
            <a:pPr algn="just">
              <a:lnSpc>
                <a:spcPts val="4434"/>
              </a:lnSpc>
            </a:pPr>
          </a:p>
        </p:txBody>
      </p:sp>
      <p:pic>
        <p:nvPicPr>
          <p:cNvPr name="Picture 8" id="8"/>
          <p:cNvPicPr>
            <a:picLocks noChangeAspect="true"/>
          </p:cNvPicPr>
          <p:nvPr/>
        </p:nvPicPr>
        <p:blipFill>
          <a:blip r:embed="rId8"/>
          <a:stretch>
            <a:fillRect/>
          </a:stretch>
        </p:blipFill>
        <p:spPr>
          <a:xfrm rot="0">
            <a:off x="-218618" y="1233089"/>
            <a:ext cx="5357578" cy="4649915"/>
          </a:xfrm>
          <a:prstGeom prst="rect">
            <a:avLst/>
          </a:prstGeom>
        </p:spPr>
      </p:pic>
      <p:sp>
        <p:nvSpPr>
          <p:cNvPr name="Freeform 9" id="9"/>
          <p:cNvSpPr/>
          <p:nvPr/>
        </p:nvSpPr>
        <p:spPr>
          <a:xfrm flipH="false" flipV="false" rot="0">
            <a:off x="15771557" y="736373"/>
            <a:ext cx="3294683" cy="763654"/>
          </a:xfrm>
          <a:custGeom>
            <a:avLst/>
            <a:gdLst/>
            <a:ahLst/>
            <a:cxnLst/>
            <a:rect r="r" b="b" t="t" l="l"/>
            <a:pathLst>
              <a:path h="763654" w="3294683">
                <a:moveTo>
                  <a:pt x="0" y="0"/>
                </a:moveTo>
                <a:lnTo>
                  <a:pt x="3294684" y="0"/>
                </a:lnTo>
                <a:lnTo>
                  <a:pt x="3294684" y="763654"/>
                </a:lnTo>
                <a:lnTo>
                  <a:pt x="0" y="763654"/>
                </a:lnTo>
                <a:lnTo>
                  <a:pt x="0" y="0"/>
                </a:lnTo>
                <a:close/>
              </a:path>
            </a:pathLst>
          </a:custGeom>
          <a:blipFill>
            <a:blip r:embed="rId9">
              <a:extLst>
                <a:ext uri="{96DAC541-7B7A-43D3-8B79-37D633B846F1}">
                  <asvg:svgBlip xmlns:asvg="http://schemas.microsoft.com/office/drawing/2016/SVG/main" r:embed="rId10"/>
                </a:ext>
              </a:extLst>
            </a:blip>
            <a:stretch>
              <a:fillRect l="-30615" t="0" r="-89665" b="-712135"/>
            </a:stretch>
          </a:blipFill>
        </p:spPr>
      </p:sp>
      <p:sp>
        <p:nvSpPr>
          <p:cNvPr name="Freeform 10" id="10"/>
          <p:cNvSpPr/>
          <p:nvPr/>
        </p:nvSpPr>
        <p:spPr>
          <a:xfrm flipH="true" flipV="false" rot="0">
            <a:off x="-587794" y="5743684"/>
            <a:ext cx="2477320" cy="2904445"/>
          </a:xfrm>
          <a:custGeom>
            <a:avLst/>
            <a:gdLst/>
            <a:ahLst/>
            <a:cxnLst/>
            <a:rect r="r" b="b" t="t" l="l"/>
            <a:pathLst>
              <a:path h="2904445" w="2477320">
                <a:moveTo>
                  <a:pt x="2477321" y="0"/>
                </a:moveTo>
                <a:lnTo>
                  <a:pt x="0" y="0"/>
                </a:lnTo>
                <a:lnTo>
                  <a:pt x="0" y="2904444"/>
                </a:lnTo>
                <a:lnTo>
                  <a:pt x="2477321" y="2904444"/>
                </a:lnTo>
                <a:lnTo>
                  <a:pt x="2477321" y="0"/>
                </a:lnTo>
                <a:close/>
              </a:path>
            </a:pathLst>
          </a:custGeom>
          <a:blipFill>
            <a:blip r:embed="rId11">
              <a:extLst>
                <a:ext uri="{96DAC541-7B7A-43D3-8B79-37D633B846F1}">
                  <asvg:svgBlip xmlns:asvg="http://schemas.microsoft.com/office/drawing/2016/SVG/main" r:embed="rId12"/>
                </a:ext>
              </a:extLst>
            </a:blip>
            <a:stretch>
              <a:fillRect l="-44873" t="-24274" r="-375601" b="-162264"/>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722164">
            <a:off x="13238375" y="-2463214"/>
            <a:ext cx="8589997" cy="8557785"/>
          </a:xfrm>
          <a:custGeom>
            <a:avLst/>
            <a:gdLst/>
            <a:ahLst/>
            <a:cxnLst/>
            <a:rect r="r" b="b" t="t" l="l"/>
            <a:pathLst>
              <a:path h="8557785" w="8589997">
                <a:moveTo>
                  <a:pt x="0" y="0"/>
                </a:moveTo>
                <a:lnTo>
                  <a:pt x="8589997" y="0"/>
                </a:lnTo>
                <a:lnTo>
                  <a:pt x="8589997" y="8557784"/>
                </a:lnTo>
                <a:lnTo>
                  <a:pt x="0" y="855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34655">
            <a:off x="-8837934" y="-154598"/>
            <a:ext cx="15359471" cy="15080208"/>
          </a:xfrm>
          <a:custGeom>
            <a:avLst/>
            <a:gdLst/>
            <a:ahLst/>
            <a:cxnLst/>
            <a:rect r="r" b="b" t="t" l="l"/>
            <a:pathLst>
              <a:path h="15080208" w="15359471">
                <a:moveTo>
                  <a:pt x="0" y="0"/>
                </a:moveTo>
                <a:lnTo>
                  <a:pt x="15359471" y="0"/>
                </a:lnTo>
                <a:lnTo>
                  <a:pt x="15359471" y="15080208"/>
                </a:lnTo>
                <a:lnTo>
                  <a:pt x="0" y="15080208"/>
                </a:lnTo>
                <a:lnTo>
                  <a:pt x="0" y="0"/>
                </a:lnTo>
                <a:close/>
              </a:path>
            </a:pathLst>
          </a:custGeom>
          <a:blipFill>
            <a:blip r:embed="rId4">
              <a:alphaModFix amt="6999"/>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5216163" y="518160"/>
            <a:ext cx="7855673" cy="1192530"/>
          </a:xfrm>
          <a:prstGeom prst="rect">
            <a:avLst/>
          </a:prstGeom>
        </p:spPr>
        <p:txBody>
          <a:bodyPr anchor="t" rtlCol="false" tIns="0" lIns="0" bIns="0" rIns="0">
            <a:spAutoFit/>
          </a:bodyPr>
          <a:lstStyle/>
          <a:p>
            <a:pPr algn="ctr">
              <a:lnSpc>
                <a:spcPts val="8910"/>
              </a:lnSpc>
            </a:pPr>
            <a:r>
              <a:rPr lang="en-US" b="true" sz="9000">
                <a:solidFill>
                  <a:srgbClr val="000000"/>
                </a:solidFill>
                <a:latin typeface="Aileron Bold"/>
                <a:ea typeface="Aileron Bold"/>
                <a:cs typeface="Aileron Bold"/>
                <a:sym typeface="Aileron Bold"/>
              </a:rPr>
              <a:t>Evaluation</a:t>
            </a:r>
          </a:p>
        </p:txBody>
      </p:sp>
      <p:sp>
        <p:nvSpPr>
          <p:cNvPr name="Freeform 5" id="5"/>
          <p:cNvSpPr/>
          <p:nvPr/>
        </p:nvSpPr>
        <p:spPr>
          <a:xfrm flipH="false" flipV="false" rot="1206534">
            <a:off x="-3925058" y="7539802"/>
            <a:ext cx="6897972" cy="6872105"/>
          </a:xfrm>
          <a:custGeom>
            <a:avLst/>
            <a:gdLst/>
            <a:ahLst/>
            <a:cxnLst/>
            <a:rect r="r" b="b" t="t" l="l"/>
            <a:pathLst>
              <a:path h="6872105" w="6897972">
                <a:moveTo>
                  <a:pt x="0" y="0"/>
                </a:moveTo>
                <a:lnTo>
                  <a:pt x="6897973" y="0"/>
                </a:lnTo>
                <a:lnTo>
                  <a:pt x="6897973" y="6872105"/>
                </a:lnTo>
                <a:lnTo>
                  <a:pt x="0" y="68721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1151897"/>
            <a:ext cx="5513950" cy="1278044"/>
          </a:xfrm>
          <a:custGeom>
            <a:avLst/>
            <a:gdLst/>
            <a:ahLst/>
            <a:cxnLst/>
            <a:rect r="r" b="b" t="t" l="l"/>
            <a:pathLst>
              <a:path h="1278044" w="5513950">
                <a:moveTo>
                  <a:pt x="0" y="0"/>
                </a:moveTo>
                <a:lnTo>
                  <a:pt x="5513950" y="0"/>
                </a:lnTo>
                <a:lnTo>
                  <a:pt x="5513950" y="1278044"/>
                </a:lnTo>
                <a:lnTo>
                  <a:pt x="0" y="1278044"/>
                </a:lnTo>
                <a:lnTo>
                  <a:pt x="0" y="0"/>
                </a:lnTo>
                <a:close/>
              </a:path>
            </a:pathLst>
          </a:custGeom>
          <a:blipFill>
            <a:blip r:embed="rId6">
              <a:extLst>
                <a:ext uri="{96DAC541-7B7A-43D3-8B79-37D633B846F1}">
                  <asvg:svgBlip xmlns:asvg="http://schemas.microsoft.com/office/drawing/2016/SVG/main" r:embed="rId7"/>
                </a:ext>
              </a:extLst>
            </a:blip>
            <a:stretch>
              <a:fillRect l="-30615" t="0" r="-89665" b="-712135"/>
            </a:stretch>
          </a:blipFill>
        </p:spPr>
      </p:sp>
      <p:sp>
        <p:nvSpPr>
          <p:cNvPr name="Freeform 7" id="7"/>
          <p:cNvSpPr/>
          <p:nvPr/>
        </p:nvSpPr>
        <p:spPr>
          <a:xfrm flipH="true" flipV="false" rot="5400000">
            <a:off x="10951899" y="8316637"/>
            <a:ext cx="2477320" cy="2904445"/>
          </a:xfrm>
          <a:custGeom>
            <a:avLst/>
            <a:gdLst/>
            <a:ahLst/>
            <a:cxnLst/>
            <a:rect r="r" b="b" t="t" l="l"/>
            <a:pathLst>
              <a:path h="2904445" w="2477320">
                <a:moveTo>
                  <a:pt x="2477321" y="0"/>
                </a:moveTo>
                <a:lnTo>
                  <a:pt x="0" y="0"/>
                </a:lnTo>
                <a:lnTo>
                  <a:pt x="0" y="2904445"/>
                </a:lnTo>
                <a:lnTo>
                  <a:pt x="2477321" y="2904445"/>
                </a:lnTo>
                <a:lnTo>
                  <a:pt x="2477321" y="0"/>
                </a:lnTo>
                <a:close/>
              </a:path>
            </a:pathLst>
          </a:custGeom>
          <a:blipFill>
            <a:blip r:embed="rId8">
              <a:extLst>
                <a:ext uri="{96DAC541-7B7A-43D3-8B79-37D633B846F1}">
                  <asvg:svgBlip xmlns:asvg="http://schemas.microsoft.com/office/drawing/2016/SVG/main" r:embed="rId9"/>
                </a:ext>
              </a:extLst>
            </a:blip>
            <a:stretch>
              <a:fillRect l="-44873" t="-24274" r="-375601" b="-162264"/>
            </a:stretch>
          </a:blipFill>
        </p:spPr>
      </p:sp>
      <p:sp>
        <p:nvSpPr>
          <p:cNvPr name="Freeform 8" id="8"/>
          <p:cNvSpPr/>
          <p:nvPr/>
        </p:nvSpPr>
        <p:spPr>
          <a:xfrm flipH="false" flipV="false" rot="0">
            <a:off x="8216991" y="2622870"/>
            <a:ext cx="7947138" cy="5041259"/>
          </a:xfrm>
          <a:custGeom>
            <a:avLst/>
            <a:gdLst/>
            <a:ahLst/>
            <a:cxnLst/>
            <a:rect r="r" b="b" t="t" l="l"/>
            <a:pathLst>
              <a:path h="5041259" w="7947138">
                <a:moveTo>
                  <a:pt x="0" y="0"/>
                </a:moveTo>
                <a:lnTo>
                  <a:pt x="7947137" y="0"/>
                </a:lnTo>
                <a:lnTo>
                  <a:pt x="7947137" y="5041260"/>
                </a:lnTo>
                <a:lnTo>
                  <a:pt x="0" y="5041260"/>
                </a:lnTo>
                <a:lnTo>
                  <a:pt x="0" y="0"/>
                </a:lnTo>
                <a:close/>
              </a:path>
            </a:pathLst>
          </a:custGeom>
          <a:blipFill>
            <a:blip r:embed="rId10"/>
            <a:stretch>
              <a:fillRect l="0" t="0" r="0" b="0"/>
            </a:stretch>
          </a:blipFill>
        </p:spPr>
      </p:sp>
      <p:sp>
        <p:nvSpPr>
          <p:cNvPr name="TextBox 9" id="9"/>
          <p:cNvSpPr txBox="true"/>
          <p:nvPr/>
        </p:nvSpPr>
        <p:spPr>
          <a:xfrm rot="0">
            <a:off x="1028700" y="3125595"/>
            <a:ext cx="6626900" cy="3280664"/>
          </a:xfrm>
          <a:prstGeom prst="rect">
            <a:avLst/>
          </a:prstGeom>
        </p:spPr>
        <p:txBody>
          <a:bodyPr anchor="t" rtlCol="false" tIns="0" lIns="0" bIns="0" rIns="0">
            <a:spAutoFit/>
          </a:bodyPr>
          <a:lstStyle/>
          <a:p>
            <a:pPr algn="l">
              <a:lnSpc>
                <a:spcPts val="8700"/>
              </a:lnSpc>
              <a:spcBef>
                <a:spcPct val="0"/>
              </a:spcBef>
            </a:pPr>
            <a:r>
              <a:rPr lang="en-US" b="true" sz="6214">
                <a:solidFill>
                  <a:srgbClr val="000000"/>
                </a:solidFill>
                <a:latin typeface="Aileron Bold"/>
                <a:ea typeface="Aileron Bold"/>
                <a:cs typeface="Aileron Bold"/>
                <a:sym typeface="Aileron Bold"/>
              </a:rPr>
              <a:t>F1_score: 0.9722</a:t>
            </a:r>
          </a:p>
          <a:p>
            <a:pPr algn="l">
              <a:lnSpc>
                <a:spcPts val="8700"/>
              </a:lnSpc>
              <a:spcBef>
                <a:spcPct val="0"/>
              </a:spcBef>
            </a:pPr>
            <a:r>
              <a:rPr lang="en-US" b="true" sz="6214">
                <a:solidFill>
                  <a:srgbClr val="000000"/>
                </a:solidFill>
                <a:latin typeface="Aileron Bold"/>
                <a:ea typeface="Aileron Bold"/>
                <a:cs typeface="Aileron Bold"/>
                <a:sym typeface="Aileron Bold"/>
              </a:rPr>
              <a:t>Precision : 0.9748</a:t>
            </a:r>
          </a:p>
          <a:p>
            <a:pPr algn="l">
              <a:lnSpc>
                <a:spcPts val="8700"/>
              </a:lnSpc>
              <a:spcBef>
                <a:spcPct val="0"/>
              </a:spcBef>
            </a:pPr>
            <a:r>
              <a:rPr lang="en-US" b="true" sz="6214">
                <a:solidFill>
                  <a:srgbClr val="000000"/>
                </a:solidFill>
                <a:latin typeface="Aileron Bold"/>
                <a:ea typeface="Aileron Bold"/>
                <a:cs typeface="Aileron Bold"/>
                <a:sym typeface="Aileron Bold"/>
              </a:rPr>
              <a:t>Recall : 0.9696</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47159">
            <a:off x="15264622" y="5435074"/>
            <a:ext cx="7568009" cy="7744570"/>
          </a:xfrm>
          <a:custGeom>
            <a:avLst/>
            <a:gdLst/>
            <a:ahLst/>
            <a:cxnLst/>
            <a:rect r="r" b="b" t="t" l="l"/>
            <a:pathLst>
              <a:path h="7744570" w="7568009">
                <a:moveTo>
                  <a:pt x="0" y="0"/>
                </a:moveTo>
                <a:lnTo>
                  <a:pt x="7568010" y="0"/>
                </a:lnTo>
                <a:lnTo>
                  <a:pt x="7568010" y="7744570"/>
                </a:lnTo>
                <a:lnTo>
                  <a:pt x="0" y="77445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309586" y="6353855"/>
            <a:ext cx="2477320" cy="2904445"/>
          </a:xfrm>
          <a:custGeom>
            <a:avLst/>
            <a:gdLst/>
            <a:ahLst/>
            <a:cxnLst/>
            <a:rect r="r" b="b" t="t" l="l"/>
            <a:pathLst>
              <a:path h="2904445" w="2477320">
                <a:moveTo>
                  <a:pt x="2477321" y="0"/>
                </a:moveTo>
                <a:lnTo>
                  <a:pt x="0" y="0"/>
                </a:lnTo>
                <a:lnTo>
                  <a:pt x="0" y="2904445"/>
                </a:lnTo>
                <a:lnTo>
                  <a:pt x="2477321" y="2904445"/>
                </a:lnTo>
                <a:lnTo>
                  <a:pt x="2477321" y="0"/>
                </a:lnTo>
                <a:close/>
              </a:path>
            </a:pathLst>
          </a:custGeom>
          <a:blipFill>
            <a:blip r:embed="rId6">
              <a:extLst>
                <a:ext uri="{96DAC541-7B7A-43D3-8B79-37D633B846F1}">
                  <asvg:svgBlip xmlns:asvg="http://schemas.microsoft.com/office/drawing/2016/SVG/main" r:embed="rId7"/>
                </a:ext>
              </a:extLst>
            </a:blip>
            <a:stretch>
              <a:fillRect l="-44873" t="-24274" r="-375601" b="-162264"/>
            </a:stretch>
          </a:blipFill>
        </p:spPr>
      </p:sp>
      <p:sp>
        <p:nvSpPr>
          <p:cNvPr name="Freeform 5" id="5"/>
          <p:cNvSpPr/>
          <p:nvPr/>
        </p:nvSpPr>
        <p:spPr>
          <a:xfrm flipH="false" flipV="false" rot="0">
            <a:off x="15387353" y="1490432"/>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6" id="6"/>
          <p:cNvSpPr/>
          <p:nvPr/>
        </p:nvSpPr>
        <p:spPr>
          <a:xfrm flipH="false" flipV="false" rot="-5025802">
            <a:off x="-2450586" y="-1683701"/>
            <a:ext cx="4272851" cy="4343933"/>
          </a:xfrm>
          <a:custGeom>
            <a:avLst/>
            <a:gdLst/>
            <a:ahLst/>
            <a:cxnLst/>
            <a:rect r="r" b="b" t="t" l="l"/>
            <a:pathLst>
              <a:path h="4343933" w="4272851">
                <a:moveTo>
                  <a:pt x="0" y="0"/>
                </a:moveTo>
                <a:lnTo>
                  <a:pt x="4272851" y="0"/>
                </a:lnTo>
                <a:lnTo>
                  <a:pt x="4272851" y="4343933"/>
                </a:lnTo>
                <a:lnTo>
                  <a:pt x="0" y="434393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7" id="7"/>
          <p:cNvSpPr txBox="true"/>
          <p:nvPr/>
        </p:nvSpPr>
        <p:spPr>
          <a:xfrm rot="0">
            <a:off x="2148746" y="612090"/>
            <a:ext cx="13990509" cy="859155"/>
          </a:xfrm>
          <a:prstGeom prst="rect">
            <a:avLst/>
          </a:prstGeom>
        </p:spPr>
        <p:txBody>
          <a:bodyPr anchor="t" rtlCol="false" tIns="0" lIns="0" bIns="0" rIns="0">
            <a:spAutoFit/>
          </a:bodyPr>
          <a:lstStyle/>
          <a:p>
            <a:pPr algn="l">
              <a:lnSpc>
                <a:spcPts val="6435"/>
              </a:lnSpc>
            </a:pPr>
            <a:r>
              <a:rPr lang="en-US" sz="6500" b="true">
                <a:solidFill>
                  <a:srgbClr val="000000"/>
                </a:solidFill>
                <a:latin typeface="Aileron Bold"/>
                <a:ea typeface="Aileron Bold"/>
                <a:cs typeface="Aileron Bold"/>
                <a:sym typeface="Aileron Bold"/>
              </a:rPr>
              <a:t>Future Scope &amp; Enhancements</a:t>
            </a:r>
          </a:p>
        </p:txBody>
      </p:sp>
      <p:sp>
        <p:nvSpPr>
          <p:cNvPr name="TextBox 8" id="8"/>
          <p:cNvSpPr txBox="true"/>
          <p:nvPr/>
        </p:nvSpPr>
        <p:spPr>
          <a:xfrm rot="0">
            <a:off x="2313738" y="2187411"/>
            <a:ext cx="13660525" cy="7475732"/>
          </a:xfrm>
          <a:prstGeom prst="rect">
            <a:avLst/>
          </a:prstGeom>
        </p:spPr>
        <p:txBody>
          <a:bodyPr anchor="t" rtlCol="false" tIns="0" lIns="0" bIns="0" rIns="0">
            <a:spAutoFit/>
          </a:bodyPr>
          <a:lstStyle/>
          <a:p>
            <a:pPr algn="l" marL="709030" indent="-354515" lvl="1">
              <a:lnSpc>
                <a:spcPts val="4597"/>
              </a:lnSpc>
              <a:buFont typeface="Arial"/>
              <a:buChar char="•"/>
            </a:pPr>
            <a:r>
              <a:rPr lang="en-US" b="true" sz="3284">
                <a:solidFill>
                  <a:srgbClr val="000000"/>
                </a:solidFill>
                <a:latin typeface="Aileron Bold"/>
                <a:ea typeface="Aileron Bold"/>
                <a:cs typeface="Aileron Bold"/>
                <a:sym typeface="Aileron Bold"/>
              </a:rPr>
              <a:t>Semantic Search &amp; RAG – </a:t>
            </a:r>
            <a:r>
              <a:rPr lang="en-US" sz="3284">
                <a:solidFill>
                  <a:srgbClr val="000000"/>
                </a:solidFill>
                <a:latin typeface="Aileron"/>
                <a:ea typeface="Aileron"/>
                <a:cs typeface="Aileron"/>
                <a:sym typeface="Aileron"/>
              </a:rPr>
              <a:t>Integrating a v</a:t>
            </a:r>
            <a:r>
              <a:rPr lang="en-US" sz="3284">
                <a:solidFill>
                  <a:srgbClr val="000000"/>
                </a:solidFill>
                <a:latin typeface="Aileron"/>
                <a:ea typeface="Aileron"/>
                <a:cs typeface="Aileron"/>
                <a:sym typeface="Aileron"/>
              </a:rPr>
              <a:t>ector database for fast semantic retrieval and a RAG pipeline for natural-language, citation-backed answers.</a:t>
            </a:r>
          </a:p>
          <a:p>
            <a:pPr algn="l" marL="709030" indent="-354515" lvl="1">
              <a:lnSpc>
                <a:spcPts val="4597"/>
              </a:lnSpc>
              <a:buFont typeface="Arial"/>
              <a:buChar char="•"/>
            </a:pPr>
            <a:r>
              <a:rPr lang="en-US" b="true" sz="3284">
                <a:solidFill>
                  <a:srgbClr val="000000"/>
                </a:solidFill>
                <a:latin typeface="Aileron Bold"/>
                <a:ea typeface="Aileron Bold"/>
                <a:cs typeface="Aileron Bold"/>
                <a:sym typeface="Aileron Bold"/>
              </a:rPr>
              <a:t>Autonomous Financial Agents</a:t>
            </a:r>
            <a:r>
              <a:rPr lang="en-US" b="true" sz="3284">
                <a:solidFill>
                  <a:srgbClr val="000000"/>
                </a:solidFill>
                <a:latin typeface="Aileron Bold"/>
                <a:ea typeface="Aileron Bold"/>
                <a:cs typeface="Aileron Bold"/>
                <a:sym typeface="Aileron Bold"/>
              </a:rPr>
              <a:t> – </a:t>
            </a:r>
            <a:r>
              <a:rPr lang="en-US" sz="3284">
                <a:solidFill>
                  <a:srgbClr val="000000"/>
                </a:solidFill>
                <a:latin typeface="Aileron"/>
                <a:ea typeface="Aileron"/>
                <a:cs typeface="Aileron"/>
                <a:sym typeface="Aileron"/>
              </a:rPr>
              <a:t>Building agentic systems that perform multi-step financial analysis, detect anomalies, and generate insights without manual prompts.</a:t>
            </a:r>
          </a:p>
          <a:p>
            <a:pPr algn="l" marL="709030" indent="-354515" lvl="1">
              <a:lnSpc>
                <a:spcPts val="4597"/>
              </a:lnSpc>
              <a:buFont typeface="Arial"/>
              <a:buChar char="•"/>
            </a:pPr>
            <a:r>
              <a:rPr lang="en-US" b="true" sz="3284">
                <a:solidFill>
                  <a:srgbClr val="000000"/>
                </a:solidFill>
                <a:latin typeface="Aileron Bold"/>
                <a:ea typeface="Aileron Bold"/>
                <a:cs typeface="Aileron Bold"/>
                <a:sym typeface="Aileron Bold"/>
              </a:rPr>
              <a:t>Advanced Table Parsing</a:t>
            </a:r>
            <a:r>
              <a:rPr lang="en-US" b="true" sz="3284">
                <a:solidFill>
                  <a:srgbClr val="000000"/>
                </a:solidFill>
                <a:latin typeface="Aileron Bold"/>
                <a:ea typeface="Aileron Bold"/>
                <a:cs typeface="Aileron Bold"/>
                <a:sym typeface="Aileron Bold"/>
              </a:rPr>
              <a:t> – </a:t>
            </a:r>
            <a:r>
              <a:rPr lang="en-US" sz="3284">
                <a:solidFill>
                  <a:srgbClr val="000000"/>
                </a:solidFill>
                <a:latin typeface="Aileron"/>
                <a:ea typeface="Aileron"/>
                <a:cs typeface="Aileron"/>
                <a:sym typeface="Aileron"/>
              </a:rPr>
              <a:t>Creating algorithms to accurately extract and reconstruct complex financial tables that traditional OCR often misreads.</a:t>
            </a:r>
          </a:p>
          <a:p>
            <a:pPr algn="l" marL="709030" indent="-354515" lvl="1">
              <a:lnSpc>
                <a:spcPts val="4597"/>
              </a:lnSpc>
              <a:buFont typeface="Arial"/>
              <a:buChar char="•"/>
            </a:pPr>
            <a:r>
              <a:rPr lang="en-US" b="true" sz="3284">
                <a:solidFill>
                  <a:srgbClr val="000000"/>
                </a:solidFill>
                <a:latin typeface="Aileron Bold"/>
                <a:ea typeface="Aileron Bold"/>
                <a:cs typeface="Aileron Bold"/>
                <a:sym typeface="Aileron Bold"/>
              </a:rPr>
              <a:t>Automated Event Detection</a:t>
            </a:r>
            <a:r>
              <a:rPr lang="en-US" b="true" sz="3284">
                <a:solidFill>
                  <a:srgbClr val="000000"/>
                </a:solidFill>
                <a:latin typeface="Aileron Bold"/>
                <a:ea typeface="Aileron Bold"/>
                <a:cs typeface="Aileron Bold"/>
                <a:sym typeface="Aileron Bold"/>
              </a:rPr>
              <a:t> –</a:t>
            </a:r>
            <a:r>
              <a:rPr lang="en-US" sz="3284">
                <a:solidFill>
                  <a:srgbClr val="000000"/>
                </a:solidFill>
                <a:latin typeface="Aileron"/>
                <a:ea typeface="Aileron"/>
                <a:cs typeface="Aileron"/>
                <a:sym typeface="Aileron"/>
              </a:rPr>
              <a:t> Extending the system to identify major corporate events like M&amp;A, IPOs, and stock splits directly from textual data.</a:t>
            </a:r>
          </a:p>
          <a:p>
            <a:pPr algn="l">
              <a:lnSpc>
                <a:spcPts val="4597"/>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false" flipV="false" rot="2234655">
            <a:off x="-6361358" y="-1171957"/>
            <a:ext cx="15359471" cy="15080208"/>
          </a:xfrm>
          <a:custGeom>
            <a:avLst/>
            <a:gdLst/>
            <a:ahLst/>
            <a:cxnLst/>
            <a:rect r="r" b="b" t="t" l="l"/>
            <a:pathLst>
              <a:path h="15080208" w="15359471">
                <a:moveTo>
                  <a:pt x="0" y="0"/>
                </a:moveTo>
                <a:lnTo>
                  <a:pt x="15359470" y="0"/>
                </a:lnTo>
                <a:lnTo>
                  <a:pt x="15359470" y="15080208"/>
                </a:lnTo>
                <a:lnTo>
                  <a:pt x="0" y="15080208"/>
                </a:lnTo>
                <a:lnTo>
                  <a:pt x="0" y="0"/>
                </a:lnTo>
                <a:close/>
              </a:path>
            </a:pathLst>
          </a:custGeom>
          <a:blipFill>
            <a:blip r:embed="rId2">
              <a:alphaModFix amt="6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398840" y="-8433465"/>
            <a:ext cx="13622071" cy="13939871"/>
          </a:xfrm>
          <a:custGeom>
            <a:avLst/>
            <a:gdLst/>
            <a:ahLst/>
            <a:cxnLst/>
            <a:rect r="r" b="b" t="t" l="l"/>
            <a:pathLst>
              <a:path h="13939871" w="13622071">
                <a:moveTo>
                  <a:pt x="0" y="0"/>
                </a:moveTo>
                <a:lnTo>
                  <a:pt x="13622071" y="0"/>
                </a:lnTo>
                <a:lnTo>
                  <a:pt x="13622071" y="13939871"/>
                </a:lnTo>
                <a:lnTo>
                  <a:pt x="0" y="13939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188768" y="4925372"/>
            <a:ext cx="6810382" cy="5361628"/>
          </a:xfrm>
          <a:custGeom>
            <a:avLst/>
            <a:gdLst/>
            <a:ahLst/>
            <a:cxnLst/>
            <a:rect r="r" b="b" t="t" l="l"/>
            <a:pathLst>
              <a:path h="5361628" w="6810382">
                <a:moveTo>
                  <a:pt x="0" y="0"/>
                </a:moveTo>
                <a:lnTo>
                  <a:pt x="6810382" y="0"/>
                </a:lnTo>
                <a:lnTo>
                  <a:pt x="6810382" y="5361628"/>
                </a:lnTo>
                <a:lnTo>
                  <a:pt x="0" y="53616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2700000">
            <a:off x="-6139644" y="2602361"/>
            <a:ext cx="6522343" cy="6674508"/>
          </a:xfrm>
          <a:custGeom>
            <a:avLst/>
            <a:gdLst/>
            <a:ahLst/>
            <a:cxnLst/>
            <a:rect r="r" b="b" t="t" l="l"/>
            <a:pathLst>
              <a:path h="6674508" w="6522343">
                <a:moveTo>
                  <a:pt x="0" y="0"/>
                </a:moveTo>
                <a:lnTo>
                  <a:pt x="6522343" y="0"/>
                </a:lnTo>
                <a:lnTo>
                  <a:pt x="6522343" y="6674508"/>
                </a:lnTo>
                <a:lnTo>
                  <a:pt x="0" y="66745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209960" y="-224795"/>
            <a:ext cx="2477320" cy="2904445"/>
          </a:xfrm>
          <a:custGeom>
            <a:avLst/>
            <a:gdLst/>
            <a:ahLst/>
            <a:cxnLst/>
            <a:rect r="r" b="b" t="t" l="l"/>
            <a:pathLst>
              <a:path h="2904445" w="2477320">
                <a:moveTo>
                  <a:pt x="2477320" y="0"/>
                </a:moveTo>
                <a:lnTo>
                  <a:pt x="0" y="0"/>
                </a:lnTo>
                <a:lnTo>
                  <a:pt x="0" y="2904444"/>
                </a:lnTo>
                <a:lnTo>
                  <a:pt x="2477320" y="2904444"/>
                </a:lnTo>
                <a:lnTo>
                  <a:pt x="2477320" y="0"/>
                </a:lnTo>
                <a:close/>
              </a:path>
            </a:pathLst>
          </a:custGeom>
          <a:blipFill>
            <a:blip r:embed="rId8">
              <a:extLst>
                <a:ext uri="{96DAC541-7B7A-43D3-8B79-37D633B846F1}">
                  <asvg:svgBlip xmlns:asvg="http://schemas.microsoft.com/office/drawing/2016/SVG/main" r:embed="rId9"/>
                </a:ext>
              </a:extLst>
            </a:blip>
            <a:stretch>
              <a:fillRect l="-44873" t="-24274" r="-375601" b="-162264"/>
            </a:stretch>
          </a:blipFill>
        </p:spPr>
      </p:sp>
      <p:sp>
        <p:nvSpPr>
          <p:cNvPr name="Freeform 7" id="7"/>
          <p:cNvSpPr/>
          <p:nvPr/>
        </p:nvSpPr>
        <p:spPr>
          <a:xfrm flipH="false" flipV="false" rot="0">
            <a:off x="6214906" y="8810761"/>
            <a:ext cx="3294683" cy="763654"/>
          </a:xfrm>
          <a:custGeom>
            <a:avLst/>
            <a:gdLst/>
            <a:ahLst/>
            <a:cxnLst/>
            <a:rect r="r" b="b" t="t" l="l"/>
            <a:pathLst>
              <a:path h="763654" w="3294683">
                <a:moveTo>
                  <a:pt x="0" y="0"/>
                </a:moveTo>
                <a:lnTo>
                  <a:pt x="3294683" y="0"/>
                </a:lnTo>
                <a:lnTo>
                  <a:pt x="3294683" y="763654"/>
                </a:lnTo>
                <a:lnTo>
                  <a:pt x="0" y="763654"/>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Freeform 8" id="8"/>
          <p:cNvSpPr/>
          <p:nvPr/>
        </p:nvSpPr>
        <p:spPr>
          <a:xfrm flipH="false" flipV="false" rot="0">
            <a:off x="4567564" y="712585"/>
            <a:ext cx="2221218" cy="514842"/>
          </a:xfrm>
          <a:custGeom>
            <a:avLst/>
            <a:gdLst/>
            <a:ahLst/>
            <a:cxnLst/>
            <a:rect r="r" b="b" t="t" l="l"/>
            <a:pathLst>
              <a:path h="514842" w="2221218">
                <a:moveTo>
                  <a:pt x="0" y="0"/>
                </a:moveTo>
                <a:lnTo>
                  <a:pt x="2221218" y="0"/>
                </a:lnTo>
                <a:lnTo>
                  <a:pt x="2221218" y="514842"/>
                </a:lnTo>
                <a:lnTo>
                  <a:pt x="0" y="514842"/>
                </a:lnTo>
                <a:lnTo>
                  <a:pt x="0" y="0"/>
                </a:lnTo>
                <a:close/>
              </a:path>
            </a:pathLst>
          </a:custGeom>
          <a:blipFill>
            <a:blip r:embed="rId10">
              <a:extLst>
                <a:ext uri="{96DAC541-7B7A-43D3-8B79-37D633B846F1}">
                  <asvg:svgBlip xmlns:asvg="http://schemas.microsoft.com/office/drawing/2016/SVG/main" r:embed="rId11"/>
                </a:ext>
              </a:extLst>
            </a:blip>
            <a:stretch>
              <a:fillRect l="-30615" t="0" r="-89665" b="-712135"/>
            </a:stretch>
          </a:blipFill>
        </p:spPr>
      </p:sp>
      <p:sp>
        <p:nvSpPr>
          <p:cNvPr name="TextBox 9" id="9"/>
          <p:cNvSpPr txBox="true"/>
          <p:nvPr/>
        </p:nvSpPr>
        <p:spPr>
          <a:xfrm rot="0">
            <a:off x="5547252" y="457767"/>
            <a:ext cx="7193496" cy="1341890"/>
          </a:xfrm>
          <a:prstGeom prst="rect">
            <a:avLst/>
          </a:prstGeom>
        </p:spPr>
        <p:txBody>
          <a:bodyPr anchor="t" rtlCol="false" tIns="0" lIns="0" bIns="0" rIns="0">
            <a:spAutoFit/>
          </a:bodyPr>
          <a:lstStyle/>
          <a:p>
            <a:pPr algn="l">
              <a:lnSpc>
                <a:spcPts val="10072"/>
              </a:lnSpc>
            </a:pPr>
            <a:r>
              <a:rPr lang="en-US" sz="10174" b="true">
                <a:solidFill>
                  <a:srgbClr val="000000"/>
                </a:solidFill>
                <a:latin typeface="Aileron Bold"/>
                <a:ea typeface="Aileron Bold"/>
                <a:cs typeface="Aileron Bold"/>
                <a:sym typeface="Aileron Bold"/>
              </a:rPr>
              <a:t>Conclusion</a:t>
            </a:r>
          </a:p>
        </p:txBody>
      </p:sp>
      <p:sp>
        <p:nvSpPr>
          <p:cNvPr name="TextBox 10" id="10"/>
          <p:cNvSpPr txBox="true"/>
          <p:nvPr/>
        </p:nvSpPr>
        <p:spPr>
          <a:xfrm rot="0">
            <a:off x="1303966" y="2207443"/>
            <a:ext cx="16411247" cy="3088209"/>
          </a:xfrm>
          <a:prstGeom prst="rect">
            <a:avLst/>
          </a:prstGeom>
        </p:spPr>
        <p:txBody>
          <a:bodyPr anchor="t" rtlCol="false" tIns="0" lIns="0" bIns="0" rIns="0">
            <a:spAutoFit/>
          </a:bodyPr>
          <a:lstStyle/>
          <a:p>
            <a:pPr algn="l">
              <a:lnSpc>
                <a:spcPts val="4083"/>
              </a:lnSpc>
              <a:spcBef>
                <a:spcPct val="0"/>
              </a:spcBef>
            </a:pPr>
            <a:r>
              <a:rPr lang="en-US" b="true" sz="2916">
                <a:solidFill>
                  <a:srgbClr val="000000"/>
                </a:solidFill>
                <a:latin typeface="Poppins Medium"/>
                <a:ea typeface="Poppins Medium"/>
                <a:cs typeface="Poppins Medium"/>
                <a:sym typeface="Poppins Medium"/>
              </a:rPr>
              <a:t>FinanceInsight revolutionizes the analysis of unstructured financial filings by harnessing the power of Google's Gemini LLM and a fine-tuned FinBERT model. This dual-engine architecture automates the extraction of specific financial metrics, slashing processing time by 90% while ensuring unparalleled accuracy. The outcome is a robust, hallucination-free solution that transforms dense reports into instant, audit-ready insights for investors and analysts.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Freeform 2" id="2"/>
          <p:cNvSpPr/>
          <p:nvPr/>
        </p:nvSpPr>
        <p:spPr>
          <a:xfrm flipH="true" flipV="false" rot="0">
            <a:off x="-4969521" y="-9852856"/>
            <a:ext cx="12704157" cy="13000542"/>
          </a:xfrm>
          <a:custGeom>
            <a:avLst/>
            <a:gdLst/>
            <a:ahLst/>
            <a:cxnLst/>
            <a:rect r="r" b="b" t="t" l="l"/>
            <a:pathLst>
              <a:path h="13000542" w="12704157">
                <a:moveTo>
                  <a:pt x="12704157" y="0"/>
                </a:moveTo>
                <a:lnTo>
                  <a:pt x="0" y="0"/>
                </a:lnTo>
                <a:lnTo>
                  <a:pt x="0" y="13000543"/>
                </a:lnTo>
                <a:lnTo>
                  <a:pt x="12704157" y="13000543"/>
                </a:lnTo>
                <a:lnTo>
                  <a:pt x="1270415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993428">
            <a:off x="7363207" y="577593"/>
            <a:ext cx="15359471" cy="15080208"/>
          </a:xfrm>
          <a:custGeom>
            <a:avLst/>
            <a:gdLst/>
            <a:ahLst/>
            <a:cxnLst/>
            <a:rect r="r" b="b" t="t" l="l"/>
            <a:pathLst>
              <a:path h="15080208" w="15359471">
                <a:moveTo>
                  <a:pt x="0" y="0"/>
                </a:moveTo>
                <a:lnTo>
                  <a:pt x="15359471" y="0"/>
                </a:lnTo>
                <a:lnTo>
                  <a:pt x="15359471" y="15080207"/>
                </a:lnTo>
                <a:lnTo>
                  <a:pt x="0" y="15080207"/>
                </a:lnTo>
                <a:lnTo>
                  <a:pt x="0" y="0"/>
                </a:lnTo>
                <a:close/>
              </a:path>
            </a:pathLst>
          </a:custGeom>
          <a:blipFill>
            <a:blip r:embed="rId4">
              <a:alphaModFix amt="6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113352" y="2335975"/>
            <a:ext cx="7145948" cy="5781721"/>
          </a:xfrm>
          <a:custGeom>
            <a:avLst/>
            <a:gdLst/>
            <a:ahLst/>
            <a:cxnLst/>
            <a:rect r="r" b="b" t="t" l="l"/>
            <a:pathLst>
              <a:path h="5781721" w="7145948">
                <a:moveTo>
                  <a:pt x="0" y="0"/>
                </a:moveTo>
                <a:lnTo>
                  <a:pt x="7145948" y="0"/>
                </a:lnTo>
                <a:lnTo>
                  <a:pt x="7145948" y="5781721"/>
                </a:lnTo>
                <a:lnTo>
                  <a:pt x="0" y="578172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279445" y="3800698"/>
            <a:ext cx="7595451" cy="1216913"/>
          </a:xfrm>
          <a:prstGeom prst="rect">
            <a:avLst/>
          </a:prstGeom>
        </p:spPr>
        <p:txBody>
          <a:bodyPr anchor="t" rtlCol="false" tIns="0" lIns="0" bIns="0" rIns="0">
            <a:spAutoFit/>
          </a:bodyPr>
          <a:lstStyle/>
          <a:p>
            <a:pPr algn="l">
              <a:lnSpc>
                <a:spcPts val="9107"/>
              </a:lnSpc>
            </a:pPr>
            <a:r>
              <a:rPr lang="en-US" sz="9199" b="true">
                <a:solidFill>
                  <a:srgbClr val="000000"/>
                </a:solidFill>
                <a:latin typeface="Aileron Bold"/>
                <a:ea typeface="Aileron Bold"/>
                <a:cs typeface="Aileron Bold"/>
                <a:sym typeface="Aileron Bold"/>
              </a:rPr>
              <a:t>Thank You</a:t>
            </a:r>
          </a:p>
        </p:txBody>
      </p:sp>
      <p:sp>
        <p:nvSpPr>
          <p:cNvPr name="TextBox 6" id="6"/>
          <p:cNvSpPr txBox="true"/>
          <p:nvPr/>
        </p:nvSpPr>
        <p:spPr>
          <a:xfrm rot="0">
            <a:off x="2279445" y="5224446"/>
            <a:ext cx="8058716" cy="1076325"/>
          </a:xfrm>
          <a:prstGeom prst="rect">
            <a:avLst/>
          </a:prstGeom>
        </p:spPr>
        <p:txBody>
          <a:bodyPr anchor="t" rtlCol="false" tIns="0" lIns="0" bIns="0" rIns="0">
            <a:spAutoFit/>
          </a:bodyPr>
          <a:lstStyle/>
          <a:p>
            <a:pPr algn="l">
              <a:lnSpc>
                <a:spcPts val="4200"/>
              </a:lnSpc>
            </a:pPr>
            <a:r>
              <a:rPr lang="en-US" sz="3000" b="true">
                <a:solidFill>
                  <a:srgbClr val="000000"/>
                </a:solidFill>
                <a:latin typeface="Poppins Semi-Bold"/>
                <a:ea typeface="Poppins Semi-Bold"/>
                <a:cs typeface="Poppins Semi-Bold"/>
                <a:sym typeface="Poppins Semi-Bold"/>
              </a:rPr>
              <a:t>"An investment in knowledge pays the best interest."</a:t>
            </a:r>
            <a:r>
              <a:rPr lang="en-US" sz="3000">
                <a:solidFill>
                  <a:srgbClr val="000000"/>
                </a:solidFill>
                <a:latin typeface="Poppins"/>
                <a:ea typeface="Poppins"/>
                <a:cs typeface="Poppins"/>
                <a:sym typeface="Poppins"/>
              </a:rPr>
              <a:t> — </a:t>
            </a:r>
            <a:r>
              <a:rPr lang="en-US" sz="3000" b="true">
                <a:solidFill>
                  <a:srgbClr val="000000"/>
                </a:solidFill>
                <a:latin typeface="Poppins Semi-Bold"/>
                <a:ea typeface="Poppins Semi-Bold"/>
                <a:cs typeface="Poppins Semi-Bold"/>
                <a:sym typeface="Poppins Semi-Bold"/>
              </a:rPr>
              <a:t>Benjamin Franklin</a:t>
            </a:r>
          </a:p>
        </p:txBody>
      </p:sp>
      <p:sp>
        <p:nvSpPr>
          <p:cNvPr name="Freeform 7" id="7"/>
          <p:cNvSpPr/>
          <p:nvPr/>
        </p:nvSpPr>
        <p:spPr>
          <a:xfrm flipH="false" flipV="false" rot="0">
            <a:off x="8074378" y="1621778"/>
            <a:ext cx="4923444" cy="1141174"/>
          </a:xfrm>
          <a:custGeom>
            <a:avLst/>
            <a:gdLst/>
            <a:ahLst/>
            <a:cxnLst/>
            <a:rect r="r" b="b" t="t" l="l"/>
            <a:pathLst>
              <a:path h="1141174" w="4923444">
                <a:moveTo>
                  <a:pt x="0" y="0"/>
                </a:moveTo>
                <a:lnTo>
                  <a:pt x="4923444" y="0"/>
                </a:lnTo>
                <a:lnTo>
                  <a:pt x="4923444" y="1141174"/>
                </a:lnTo>
                <a:lnTo>
                  <a:pt x="0" y="1141174"/>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8" id="8"/>
          <p:cNvSpPr/>
          <p:nvPr/>
        </p:nvSpPr>
        <p:spPr>
          <a:xfrm flipH="false" flipV="false" rot="0">
            <a:off x="-1482822" y="6536964"/>
            <a:ext cx="3933299" cy="911675"/>
          </a:xfrm>
          <a:custGeom>
            <a:avLst/>
            <a:gdLst/>
            <a:ahLst/>
            <a:cxnLst/>
            <a:rect r="r" b="b" t="t" l="l"/>
            <a:pathLst>
              <a:path h="911675" w="3933299">
                <a:moveTo>
                  <a:pt x="0" y="0"/>
                </a:moveTo>
                <a:lnTo>
                  <a:pt x="3933299" y="0"/>
                </a:lnTo>
                <a:lnTo>
                  <a:pt x="3933299" y="911675"/>
                </a:lnTo>
                <a:lnTo>
                  <a:pt x="0" y="911675"/>
                </a:lnTo>
                <a:lnTo>
                  <a:pt x="0" y="0"/>
                </a:lnTo>
                <a:close/>
              </a:path>
            </a:pathLst>
          </a:custGeom>
          <a:blipFill>
            <a:blip r:embed="rId8">
              <a:extLst>
                <a:ext uri="{96DAC541-7B7A-43D3-8B79-37D633B846F1}">
                  <asvg:svgBlip xmlns:asvg="http://schemas.microsoft.com/office/drawing/2016/SVG/main" r:embed="rId9"/>
                </a:ext>
              </a:extLst>
            </a:blip>
            <a:stretch>
              <a:fillRect l="-30615" t="0" r="-89665" b="-712135"/>
            </a:stretch>
          </a:blipFill>
        </p:spPr>
      </p:sp>
      <p:sp>
        <p:nvSpPr>
          <p:cNvPr name="Freeform 9" id="9"/>
          <p:cNvSpPr/>
          <p:nvPr/>
        </p:nvSpPr>
        <p:spPr>
          <a:xfrm flipH="true" flipV="false" rot="0">
            <a:off x="7039580" y="6097545"/>
            <a:ext cx="2477320" cy="2904445"/>
          </a:xfrm>
          <a:custGeom>
            <a:avLst/>
            <a:gdLst/>
            <a:ahLst/>
            <a:cxnLst/>
            <a:rect r="r" b="b" t="t" l="l"/>
            <a:pathLst>
              <a:path h="2904445" w="2477320">
                <a:moveTo>
                  <a:pt x="2477320" y="0"/>
                </a:moveTo>
                <a:lnTo>
                  <a:pt x="0" y="0"/>
                </a:lnTo>
                <a:lnTo>
                  <a:pt x="0" y="2904445"/>
                </a:lnTo>
                <a:lnTo>
                  <a:pt x="2477320" y="2904445"/>
                </a:lnTo>
                <a:lnTo>
                  <a:pt x="2477320" y="0"/>
                </a:lnTo>
                <a:close/>
              </a:path>
            </a:pathLst>
          </a:custGeom>
          <a:blipFill>
            <a:blip r:embed="rId10">
              <a:extLst>
                <a:ext uri="{96DAC541-7B7A-43D3-8B79-37D633B846F1}">
                  <asvg:svgBlip xmlns:asvg="http://schemas.microsoft.com/office/drawing/2016/SVG/main" r:embed="rId11"/>
                </a:ext>
              </a:extLst>
            </a:blip>
            <a:stretch>
              <a:fillRect l="-44873" t="-24274" r="-375601" b="-162264"/>
            </a:stretch>
          </a:blipFill>
        </p:spPr>
      </p:sp>
      <p:sp>
        <p:nvSpPr>
          <p:cNvPr name="Freeform 10" id="10"/>
          <p:cNvSpPr/>
          <p:nvPr/>
        </p:nvSpPr>
        <p:spPr>
          <a:xfrm flipH="true" flipV="false" rot="3548367">
            <a:off x="17325691" y="5741561"/>
            <a:ext cx="2477320" cy="2904445"/>
          </a:xfrm>
          <a:custGeom>
            <a:avLst/>
            <a:gdLst/>
            <a:ahLst/>
            <a:cxnLst/>
            <a:rect r="r" b="b" t="t" l="l"/>
            <a:pathLst>
              <a:path h="2904445" w="2477320">
                <a:moveTo>
                  <a:pt x="2477320" y="0"/>
                </a:moveTo>
                <a:lnTo>
                  <a:pt x="0" y="0"/>
                </a:lnTo>
                <a:lnTo>
                  <a:pt x="0" y="2904445"/>
                </a:lnTo>
                <a:lnTo>
                  <a:pt x="2477320" y="2904445"/>
                </a:lnTo>
                <a:lnTo>
                  <a:pt x="2477320" y="0"/>
                </a:lnTo>
                <a:close/>
              </a:path>
            </a:pathLst>
          </a:custGeom>
          <a:blipFill>
            <a:blip r:embed="rId10">
              <a:extLst>
                <a:ext uri="{96DAC541-7B7A-43D3-8B79-37D633B846F1}">
                  <asvg:svgBlip xmlns:asvg="http://schemas.microsoft.com/office/drawing/2016/SVG/main" r:embed="rId11"/>
                </a:ext>
              </a:extLst>
            </a:blip>
            <a:stretch>
              <a:fillRect l="-44873" t="-24274" r="-375601" b="-162264"/>
            </a:stretch>
          </a:blipFill>
        </p:spPr>
      </p:sp>
      <p:sp>
        <p:nvSpPr>
          <p:cNvPr name="Freeform 11" id="11"/>
          <p:cNvSpPr/>
          <p:nvPr/>
        </p:nvSpPr>
        <p:spPr>
          <a:xfrm flipH="true" flipV="false" rot="257745">
            <a:off x="1728509" y="9052623"/>
            <a:ext cx="6531409" cy="6683785"/>
          </a:xfrm>
          <a:custGeom>
            <a:avLst/>
            <a:gdLst/>
            <a:ahLst/>
            <a:cxnLst/>
            <a:rect r="r" b="b" t="t" l="l"/>
            <a:pathLst>
              <a:path h="6683785" w="6531409">
                <a:moveTo>
                  <a:pt x="6531409" y="0"/>
                </a:moveTo>
                <a:lnTo>
                  <a:pt x="0" y="0"/>
                </a:lnTo>
                <a:lnTo>
                  <a:pt x="0" y="6683785"/>
                </a:lnTo>
                <a:lnTo>
                  <a:pt x="6531409" y="6683785"/>
                </a:lnTo>
                <a:lnTo>
                  <a:pt x="653140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true" flipV="false" rot="257745">
            <a:off x="16101223" y="-5047299"/>
            <a:ext cx="6531409" cy="6683785"/>
          </a:xfrm>
          <a:custGeom>
            <a:avLst/>
            <a:gdLst/>
            <a:ahLst/>
            <a:cxnLst/>
            <a:rect r="r" b="b" t="t" l="l"/>
            <a:pathLst>
              <a:path h="6683785" w="6531409">
                <a:moveTo>
                  <a:pt x="6531409" y="0"/>
                </a:moveTo>
                <a:lnTo>
                  <a:pt x="0" y="0"/>
                </a:lnTo>
                <a:lnTo>
                  <a:pt x="0" y="6683786"/>
                </a:lnTo>
                <a:lnTo>
                  <a:pt x="6531409" y="6683786"/>
                </a:lnTo>
                <a:lnTo>
                  <a:pt x="653140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DAG5hZ5YfMw</dc:identifier>
  <dcterms:modified xsi:type="dcterms:W3CDTF">2011-08-01T06:04:30Z</dcterms:modified>
  <cp:revision>1</cp:revision>
  <dc:title>FinanceInsight Presentation</dc:title>
</cp:coreProperties>
</file>